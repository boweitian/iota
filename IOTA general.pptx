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5"/>
    <p:sldMasterId id="21474836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CA1BF0-0B7C-4AC3-93AB-0C1121D43C40}">
  <a:tblStyle styleId="{D0CA1BF0-0B7C-4AC3-93AB-0C1121D43C4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24" Type="http://schemas.openxmlformats.org/officeDocument/2006/relationships/slide" Target="slides/slide17.xml"/><Relationship Id="rId12" Type="http://schemas.openxmlformats.org/officeDocument/2006/relationships/slide" Target="slides/slide5.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54d4c0df1f4f431b_3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h54d4c0df1f4f431b_3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IOTA aims to create digital life. Our starting point is to make internal model concepts operational and testable. Navigator and Search are connected paths within that effort. The cover is an AI-generated conceptual illustration, not measured Geometry or a product screenshot.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70" name="Google Shape;70;h54d4c0df1f4f431b_3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54d4c0df1f4f431b_3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h54d4c0df1f4f431b_3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We want people to participate in building a digital agent's inner world. Persistent identity, a shapeable internal structure, and growth each have engineering definitions we can test separately.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76" name="Google Shape;76;h54d4c0df1f4f431b_3_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54d4c0df1f4f431b_3_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h54d4c0df1f4f431b_3_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These are the product problems IOTA aims to address. This is not a claim that prior research has ignored them. Differentiation requires comparison in real partner tasks. We care about the links between inputs and directions, intentions and behavior, and identity across sessions.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86" name="Google Shape;86;h54d4c0df1f4f431b_3_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54d4c0df1f4f431b_3_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h54d4c0df1f4f431b_3_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Geometry depends on the model, representation layer, and intervention method. A visual projection helps navigation, but distance in that projection does not establish conceptual causality. Behavior must validate each intervention. We cannot assume every concept has a single linear direction or that directions transfer unchanged across models.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101" name="Google Shape;101;h54d4c0df1f4f431b_3_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54d4c0df1f4f431b_3_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h54d4c0df1f4f431b_3_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The product split follows the founder's definition: Navigator selects Steering within an existing Geometry and tests performance. Search aims to create digital life. Search's expansion agenda does not change the fixed Geometry boundary of Navigator's first evaluation stage.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115" name="Google Shape;115;h54d4c0df1f4f431b_3_6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54d4c0df1f4f431b_3_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h54d4c0df1f4f431b_3_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Start with selection among available directions. Later work can explore combinations and strength control. Allow no intervention when a direction would be unhelpful or harmful. The base model generates the response; Navigator selects internal controls. Benefits require experimental validation.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130" name="Google Shape;130;h54d4c0df1f4f431b_3_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54d4c0df1f4f431b_3_9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h54d4c0df1f4f431b_3_9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This is an evaluation plan, not a results table. Lock the base model, Geometry, and computational budget. Tune only on development data. Report held-out performance, uncertainty, and repeated trials. Random selection tests whether choosing the right direction matters. Test examples cannot inform direction construction or router tuning.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152" name="Google Shape;152;h54d4c0df1f4f431b_3_9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54d4c0df1f4f431b_3_10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h54d4c0df1f4f431b_3_1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Search's long-term mission is to create digital life. For a first introduction, the description “A platform for creating digital life” makes its purpose clear. This is a long-term ambition, without claiming consciousness or subjective experience.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163" name="Google Shape;163;h54d4c0df1f4f431b_3_10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54d4c0df1f4f431b_3_1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h54d4c0df1f4f431b_3_1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Inner World edits existing Steering and lets users propose custom Steering. A natural-language request first becomes a candidate, not a guaranteed effective intervention. Outer World conversations should identify their model and configuration versions. This slide describes the product design, including capabilities still to validate.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172" name="Google Shape;172;h54d4c0df1f4f431b_3_1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54d4c0df1f4f431b_3_1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h54d4c0df1f4f431b_3_1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Create an identity and configuration, then observe behavior in scenarios. When existing Geometry cannot express a desired change, propose a candidate direction and evaluate its effects and side effects. Validated changes enter a new version. Memory storage and Geometry updates require separate mechanisms; conversation does not automatically update directions.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187" name="Google Shape;187;h54d4c0df1f4f431b_3_1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h54d4c0df1f4f431b_3_1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h54d4c0df1f4f431b_3_1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These goals can be tested separately and do not establish consciousness or subjective experience. Test identity through cross-session behavior and configuration recovery. Test shapeability through target changes and side effects. Show when stored experience influences future behavior. Bound autonomy by permissions and keep validation records for growth.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204" name="Google Shape;204;h54d4c0df1f4f431b_3_1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h54d4c0df1f4f431b_3_1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h54d4c0df1f4f431b_3_1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Navigator contributes data about which directions help which inputs. Search contributes individual needs, contexts, and candidate directions. Both share evaluation and versioning. Cross-model transfer needs separate validation; a vector from one model is not automatically a universal concept asset.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214" name="Google Shape;214;h54d4c0df1f4f431b_3_15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54d4c0df1f4f431b_3_1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h54d4c0df1f4f431b_3_1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These are commercial hypotheses. Customers, revenue, and willingness to pay are not established. Navigator may serve teams controlling open-model behavior. Search may serve creators and applications that need persistent characters. Interviews and trials should guide product priorities and pricing.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228" name="Google Shape;228;h54d4c0df1f4f431b_3_1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54d4c0df1f4f431b_3_1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h54d4c0df1f4f431b_3_1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Source: user-supplied screenshot Screenshot_19-10-2026_202653_supported-lower-seventh-cars.trycloudflare.com.jpeg. The embedded image is an English translation produced with an image-editing tool, not a new live capture. The source shows interface and configuration state, not independent proof of backend operation, successful persistence, or behavioral effectiveness. It reports an ended GPU session and available replay. Qwen3.5-9B is an interface label.</a:t>
            </a:r>
            <a:endParaRPr/>
          </a:p>
        </p:txBody>
      </p:sp>
      <p:sp>
        <p:nvSpPr>
          <p:cNvPr id="243" name="Google Shape;243;h54d4c0df1f4f431b_3_1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54d4c0df1f4f431b_3_1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h54d4c0df1f4f431b_3_1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Source: user-supplied screenshot Screenshot_19-10-2026_20271_supported-lower-seventh-cars.trycloudflare.com.jpeg. The embedded image is a translated UI illustration, not a new live capture. The source states that the model is disconnected and users can edit the inner world before reconnecting. It confirms a conversation interface, not a verified live conversation or cross-session memory.</a:t>
            </a:r>
            <a:endParaRPr/>
          </a:p>
        </p:txBody>
      </p:sp>
      <p:sp>
        <p:nvSpPr>
          <p:cNvPr id="255" name="Google Shape;255;h54d4c0df1f4f431b_3_1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54d4c0df1f4f431b_3_2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h54d4c0df1f4f431b_3_2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This is a proposed sequence, without delivery dates. Historical materials show concept maps, direction controls, and response comparisons. The supplied current screenshots show Search's interfaces but a disconnected model. First complete reproducible Navigator evaluations and a working Search interaction loop. Then validate identity and versioning before exploring memory and individual Geometry expansion.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267" name="Google Shape;267;h54d4c0df1f4f431b_3_2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h54d4c0df1f4f431b_3_2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h54d4c0df1f4f431b_3_2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Return to the shared ambition. Navigator establishes evidence for useful internal control. Search explores creating digital life. Invite collaborators to run a clearly scoped validation together before deciding on larger commitments.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user project definition, October 19, 2026, and the existing IOTA vision statement. Roadmap and commercial paths are proposals. Performance gains and digital life remain goals to validate.</a:t>
            </a:r>
            <a:endParaRPr/>
          </a:p>
        </p:txBody>
      </p:sp>
      <p:sp>
        <p:nvSpPr>
          <p:cNvPr id="285" name="Google Shape;285;h54d4c0df1f4f431b_3_2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2" name="Shape 52"/>
        <p:cNvGrpSpPr/>
        <p:nvPr/>
      </p:nvGrpSpPr>
      <p:grpSpPr>
        <a:xfrm>
          <a:off x="0" y="0"/>
          <a:ext cx="0" cy="0"/>
          <a:chOff x="0" y="0"/>
          <a:chExt cx="0" cy="0"/>
        </a:xfrm>
      </p:grpSpPr>
      <p:sp>
        <p:nvSpPr>
          <p:cNvPr id="53" name="Google Shape;53;p15"/>
          <p:cNvSpPr txBox="1"/>
          <p:nvPr>
            <p:ph type="title"/>
          </p:nvPr>
        </p:nvSpPr>
        <p:spPr>
          <a:xfrm>
            <a:off x="914400" y="1943100"/>
            <a:ext cx="7315200" cy="74295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9pPr>
          </a:lstStyle>
          <a:p/>
        </p:txBody>
      </p:sp>
      <p:sp>
        <p:nvSpPr>
          <p:cNvPr id="54" name="Google Shape;54;p15"/>
          <p:cNvSpPr txBox="1"/>
          <p:nvPr>
            <p:ph idx="1" type="subTitle"/>
          </p:nvPr>
        </p:nvSpPr>
        <p:spPr>
          <a:xfrm>
            <a:off x="1371600" y="2828925"/>
            <a:ext cx="6400800" cy="5715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5" name="Shape 55"/>
        <p:cNvGrpSpPr/>
        <p:nvPr/>
      </p:nvGrpSpPr>
      <p:grpSpPr>
        <a:xfrm>
          <a:off x="0" y="0"/>
          <a:ext cx="0" cy="0"/>
          <a:chOff x="0" y="0"/>
          <a:chExt cx="0" cy="0"/>
        </a:xfrm>
      </p:grpSpPr>
      <p:sp>
        <p:nvSpPr>
          <p:cNvPr id="56" name="Google Shape;56;p16"/>
          <p:cNvSpPr txBox="1"/>
          <p:nvPr>
            <p:ph type="title"/>
          </p:nvPr>
        </p:nvSpPr>
        <p:spPr>
          <a:xfrm>
            <a:off x="914400" y="2143125"/>
            <a:ext cx="7315200" cy="85725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7" name="Shape 57"/>
        <p:cNvGrpSpPr/>
        <p:nvPr/>
      </p:nvGrpSpPr>
      <p:grpSpPr>
        <a:xfrm>
          <a:off x="0" y="0"/>
          <a:ext cx="0" cy="0"/>
          <a:chOff x="0" y="0"/>
          <a:chExt cx="0" cy="0"/>
        </a:xfrm>
      </p:grpSpPr>
      <p:sp>
        <p:nvSpPr>
          <p:cNvPr id="58" name="Google Shape;58;p17"/>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59" name="Google Shape;59;p17"/>
          <p:cNvSpPr txBox="1"/>
          <p:nvPr>
            <p:ph idx="1" type="body"/>
          </p:nvPr>
        </p:nvSpPr>
        <p:spPr>
          <a:xfrm>
            <a:off x="514350" y="1428750"/>
            <a:ext cx="8115300" cy="3200400"/>
          </a:xfrm>
          <a:prstGeom prst="rect">
            <a:avLst/>
          </a:prstGeom>
          <a:noFill/>
          <a:ln>
            <a:noFill/>
          </a:ln>
        </p:spPr>
        <p:txBody>
          <a:bodyPr anchorCtr="0" anchor="t" bIns="0" lIns="0" spcFirstLastPara="1" rIns="0" wrap="square" tIns="0">
            <a:normAutofit/>
          </a:bodyPr>
          <a:lstStyle>
            <a:lvl1pPr indent="-336550" lvl="0" marL="457200" marR="0" rtl="0" algn="l">
              <a:lnSpc>
                <a:spcPct val="110000"/>
              </a:lnSpc>
              <a:spcBef>
                <a:spcPts val="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1pPr>
            <a:lvl2pPr indent="-336550" lvl="1" marL="914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2pPr>
            <a:lvl3pPr indent="-336550" lvl="2" marL="1371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3pPr>
            <a:lvl4pPr indent="-336550" lvl="3" marL="18288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4pPr>
            <a:lvl5pPr indent="-336550" lvl="4" marL="22860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5pPr>
            <a:lvl6pPr indent="-336550" lvl="5" marL="27432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6pPr>
            <a:lvl7pPr indent="-336550" lvl="6" marL="3200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7pPr>
            <a:lvl8pPr indent="-336550" lvl="7" marL="3657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8pPr>
            <a:lvl9pPr indent="-336550" lvl="8" marL="4114800" marR="0" rtl="0" algn="l">
              <a:lnSpc>
                <a:spcPct val="110000"/>
              </a:lnSpc>
              <a:spcBef>
                <a:spcPts val="900"/>
              </a:spcBef>
              <a:spcAft>
                <a:spcPts val="900"/>
              </a:spcAft>
              <a:buClr>
                <a:schemeClr val="dk1"/>
              </a:buClr>
              <a:buSzPts val="1700"/>
              <a:buFont typeface="Arial"/>
              <a:buChar char="•"/>
              <a:defRPr b="0" i="0" sz="17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60" name="Shape 60"/>
        <p:cNvGrpSpPr/>
        <p:nvPr/>
      </p:nvGrpSpPr>
      <p:grpSpPr>
        <a:xfrm>
          <a:off x="0" y="0"/>
          <a:ext cx="0" cy="0"/>
          <a:chOff x="0" y="0"/>
          <a:chExt cx="0" cy="0"/>
        </a:xfrm>
      </p:grpSpPr>
      <p:sp>
        <p:nvSpPr>
          <p:cNvPr id="61" name="Google Shape;61;p18"/>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62" name="Google Shape;62;p18"/>
          <p:cNvSpPr txBox="1"/>
          <p:nvPr>
            <p:ph idx="1" type="body"/>
          </p:nvPr>
        </p:nvSpPr>
        <p:spPr>
          <a:xfrm>
            <a:off x="514350" y="1428750"/>
            <a:ext cx="3771900" cy="3200400"/>
          </a:xfrm>
          <a:prstGeom prst="rect">
            <a:avLst/>
          </a:prstGeom>
          <a:noFill/>
          <a:ln>
            <a:noFill/>
          </a:ln>
        </p:spPr>
        <p:txBody>
          <a:bodyPr anchorCtr="0" anchor="t" bIns="0" lIns="0" spcFirstLastPara="1" rIns="0" wrap="square" tIns="0">
            <a:normAutofit/>
          </a:bodyPr>
          <a:lstStyle>
            <a:lvl1pPr indent="-330200" lvl="0" marL="457200" marR="0" rtl="0" algn="l">
              <a:lnSpc>
                <a:spcPct val="11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30200" lvl="3" marL="18288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10000"/>
              </a:lnSpc>
              <a:spcBef>
                <a:spcPts val="900"/>
              </a:spcBef>
              <a:spcAft>
                <a:spcPts val="90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63" name="Google Shape;63;p18"/>
          <p:cNvSpPr txBox="1"/>
          <p:nvPr>
            <p:ph idx="2" type="body"/>
          </p:nvPr>
        </p:nvSpPr>
        <p:spPr>
          <a:xfrm>
            <a:off x="4857750" y="1428750"/>
            <a:ext cx="3771900" cy="3200400"/>
          </a:xfrm>
          <a:prstGeom prst="rect">
            <a:avLst/>
          </a:prstGeom>
          <a:noFill/>
          <a:ln>
            <a:noFill/>
          </a:ln>
        </p:spPr>
        <p:txBody>
          <a:bodyPr anchorCtr="0" anchor="t" bIns="0" lIns="0" spcFirstLastPara="1" rIns="0" wrap="square" tIns="0">
            <a:normAutofit/>
          </a:bodyPr>
          <a:lstStyle>
            <a:lvl1pPr indent="-330200" lvl="0" marL="457200" marR="0" rtl="0" algn="l">
              <a:lnSpc>
                <a:spcPct val="11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30200" lvl="3" marL="18288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10000"/>
              </a:lnSpc>
              <a:spcBef>
                <a:spcPts val="900"/>
              </a:spcBef>
              <a:spcAft>
                <a:spcPts val="90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64" name="Shape 64"/>
        <p:cNvGrpSpPr/>
        <p:nvPr/>
      </p:nvGrpSpPr>
      <p:grpSpPr>
        <a:xfrm>
          <a:off x="0" y="0"/>
          <a:ext cx="0" cy="0"/>
          <a:chOff x="0" y="0"/>
          <a:chExt cx="0" cy="0"/>
        </a:xfrm>
      </p:grpSpPr>
      <p:sp>
        <p:nvSpPr>
          <p:cNvPr id="65" name="Google Shape;65;p19"/>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66" name="Google Shape;66;p19"/>
          <p:cNvSpPr txBox="1"/>
          <p:nvPr>
            <p:ph idx="1" type="body"/>
          </p:nvPr>
        </p:nvSpPr>
        <p:spPr>
          <a:xfrm>
            <a:off x="514350" y="1428750"/>
            <a:ext cx="3771900" cy="3200400"/>
          </a:xfrm>
          <a:prstGeom prst="rect">
            <a:avLst/>
          </a:prstGeom>
          <a:noFill/>
          <a:ln>
            <a:noFill/>
          </a:ln>
        </p:spPr>
        <p:txBody>
          <a:bodyPr anchorCtr="0" anchor="t" bIns="0" lIns="0" spcFirstLastPara="1" rIns="0" wrap="square" tIns="0">
            <a:normAutofit/>
          </a:bodyPr>
          <a:lstStyle>
            <a:lvl1pPr indent="-336550" lvl="0" marL="457200" marR="0" rtl="0" algn="l">
              <a:lnSpc>
                <a:spcPct val="110000"/>
              </a:lnSpc>
              <a:spcBef>
                <a:spcPts val="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1pPr>
            <a:lvl2pPr indent="-336550" lvl="1" marL="914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2pPr>
            <a:lvl3pPr indent="-336550" lvl="2" marL="1371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3pPr>
            <a:lvl4pPr indent="-336550" lvl="3" marL="18288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4pPr>
            <a:lvl5pPr indent="-336550" lvl="4" marL="22860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5pPr>
            <a:lvl6pPr indent="-336550" lvl="5" marL="27432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6pPr>
            <a:lvl7pPr indent="-336550" lvl="6" marL="3200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7pPr>
            <a:lvl8pPr indent="-336550" lvl="7" marL="3657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8pPr>
            <a:lvl9pPr indent="-336550" lvl="8" marL="4114800" marR="0" rtl="0" algn="l">
              <a:lnSpc>
                <a:spcPct val="110000"/>
              </a:lnSpc>
              <a:spcBef>
                <a:spcPts val="900"/>
              </a:spcBef>
              <a:spcAft>
                <a:spcPts val="900"/>
              </a:spcAft>
              <a:buClr>
                <a:schemeClr val="dk1"/>
              </a:buClr>
              <a:buSzPts val="1700"/>
              <a:buFont typeface="Arial"/>
              <a:buChar char="•"/>
              <a:defRPr b="0" i="0" sz="17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71" name="Shape 71"/>
        <p:cNvGrpSpPr/>
        <p:nvPr/>
      </p:nvGrpSpPr>
      <p:grpSpPr>
        <a:xfrm>
          <a:off x="0" y="0"/>
          <a:ext cx="0" cy="0"/>
          <a:chOff x="0" y="0"/>
          <a:chExt cx="0" cy="0"/>
        </a:xfrm>
      </p:grpSpPr>
      <p:pic>
        <p:nvPicPr>
          <p:cNvPr id="72" name="Google Shape;72;p20"/>
          <p:cNvPicPr preferRelativeResize="0"/>
          <p:nvPr/>
        </p:nvPicPr>
        <p:blipFill>
          <a:blip r:embed="rId3">
            <a:alphaModFix/>
          </a:blip>
          <a:stretch>
            <a:fillRect/>
          </a:stretch>
        </p:blipFill>
        <p:spPr>
          <a:xfrm>
            <a:off x="-103700" y="-54400"/>
            <a:ext cx="9255026" cy="52087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77" name="Shape 77"/>
        <p:cNvGrpSpPr/>
        <p:nvPr/>
      </p:nvGrpSpPr>
      <p:grpSpPr>
        <a:xfrm>
          <a:off x="0" y="0"/>
          <a:ext cx="0" cy="0"/>
          <a:chOff x="0" y="0"/>
          <a:chExt cx="0" cy="0"/>
        </a:xfrm>
      </p:grpSpPr>
      <p:sp>
        <p:nvSpPr>
          <p:cNvPr id="78" name="Google Shape;78;p21"/>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02</a:t>
            </a:r>
            <a:endParaRPr sz="1100"/>
          </a:p>
        </p:txBody>
      </p:sp>
      <p:sp>
        <p:nvSpPr>
          <p:cNvPr id="79" name="Google Shape;79;p21"/>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Our </a:t>
            </a:r>
            <a:r>
              <a:rPr lang="en" sz="2500">
                <a:solidFill>
                  <a:srgbClr val="273C34"/>
                </a:solidFill>
              </a:rPr>
              <a:t>mission</a:t>
            </a:r>
            <a:endParaRPr sz="1100"/>
          </a:p>
        </p:txBody>
      </p:sp>
      <p:sp>
        <p:nvSpPr>
          <p:cNvPr id="80" name="Google Shape;80;p21"/>
          <p:cNvSpPr/>
          <p:nvPr/>
        </p:nvSpPr>
        <p:spPr>
          <a:xfrm>
            <a:off x="500063" y="1814513"/>
            <a:ext cx="8001000" cy="1357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3300">
                <a:solidFill>
                  <a:srgbClr val="273C34"/>
                </a:solidFill>
              </a:rPr>
              <a:t>Help</a:t>
            </a:r>
            <a:r>
              <a:rPr b="0" lang="en" sz="3300">
                <a:solidFill>
                  <a:srgbClr val="273C34"/>
                </a:solidFill>
                <a:latin typeface="Arial"/>
                <a:ea typeface="Arial"/>
                <a:cs typeface="Arial"/>
                <a:sym typeface="Arial"/>
              </a:rPr>
              <a:t> people build</a:t>
            </a:r>
            <a:endParaRPr sz="1100"/>
          </a:p>
          <a:p>
            <a:pPr indent="0" lvl="0" marL="0" marR="0" rtl="0" algn="l">
              <a:spcBef>
                <a:spcPts val="0"/>
              </a:spcBef>
              <a:spcAft>
                <a:spcPts val="0"/>
              </a:spcAft>
              <a:buNone/>
            </a:pPr>
            <a:r>
              <a:rPr b="0" lang="en" sz="3300">
                <a:solidFill>
                  <a:srgbClr val="273C34"/>
                </a:solidFill>
                <a:latin typeface="Arial"/>
                <a:ea typeface="Arial"/>
                <a:cs typeface="Arial"/>
                <a:sym typeface="Arial"/>
              </a:rPr>
              <a:t>the inner world of intelligence</a:t>
            </a:r>
            <a:endParaRPr sz="1100"/>
          </a:p>
        </p:txBody>
      </p:sp>
      <p:sp>
        <p:nvSpPr>
          <p:cNvPr id="81" name="Google Shape;81;p21"/>
          <p:cNvSpPr/>
          <p:nvPr/>
        </p:nvSpPr>
        <p:spPr>
          <a:xfrm>
            <a:off x="514350" y="3529013"/>
            <a:ext cx="7786688" cy="78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6F7E75"/>
                </a:solidFill>
                <a:latin typeface="Arial"/>
                <a:ea typeface="Arial"/>
                <a:cs typeface="Arial"/>
                <a:sym typeface="Arial"/>
              </a:rPr>
              <a:t>Understand its behavior. Shape its internal </a:t>
            </a:r>
            <a:r>
              <a:rPr lang="en" sz="1700">
                <a:solidFill>
                  <a:srgbClr val="6F7E75"/>
                </a:solidFill>
              </a:rPr>
              <a:t>geometry navigation</a:t>
            </a:r>
            <a:r>
              <a:rPr b="0" lang="en" sz="1700">
                <a:solidFill>
                  <a:srgbClr val="6F7E75"/>
                </a:solidFill>
                <a:latin typeface="Arial"/>
                <a:ea typeface="Arial"/>
                <a:cs typeface="Arial"/>
                <a:sym typeface="Arial"/>
              </a:rPr>
              <a:t>.</a:t>
            </a:r>
            <a:endParaRPr sz="1100"/>
          </a:p>
          <a:p>
            <a:pPr indent="0" lvl="0" marL="0" marR="0" rtl="0" algn="l">
              <a:spcBef>
                <a:spcPts val="0"/>
              </a:spcBef>
              <a:spcAft>
                <a:spcPts val="0"/>
              </a:spcAft>
              <a:buNone/>
            </a:pPr>
            <a:r>
              <a:rPr b="0" lang="en" sz="1700">
                <a:solidFill>
                  <a:srgbClr val="6F7E75"/>
                </a:solidFill>
                <a:latin typeface="Arial"/>
                <a:ea typeface="Arial"/>
                <a:cs typeface="Arial"/>
                <a:sym typeface="Arial"/>
              </a:rPr>
              <a:t>Grow alongside a persistent digital individual.</a:t>
            </a:r>
            <a:endParaRPr sz="1100"/>
          </a:p>
        </p:txBody>
      </p:sp>
      <p:pic>
        <p:nvPicPr>
          <p:cNvPr id="82" name="Google Shape;82;p21"/>
          <p:cNvPicPr preferRelativeResize="0"/>
          <p:nvPr/>
        </p:nvPicPr>
        <p:blipFill>
          <a:blip r:embed="rId3">
            <a:alphaModFix/>
          </a:blip>
          <a:stretch>
            <a:fillRect/>
          </a:stretch>
        </p:blipFill>
        <p:spPr>
          <a:xfrm>
            <a:off x="343350" y="7863"/>
            <a:ext cx="893402" cy="6700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87" name="Shape 87"/>
        <p:cNvGrpSpPr/>
        <p:nvPr/>
      </p:nvGrpSpPr>
      <p:grpSpPr>
        <a:xfrm>
          <a:off x="0" y="0"/>
          <a:ext cx="0" cy="0"/>
          <a:chOff x="0" y="0"/>
          <a:chExt cx="0" cy="0"/>
        </a:xfrm>
      </p:grpSpPr>
      <p:sp>
        <p:nvSpPr>
          <p:cNvPr id="88" name="Google Shape;88;p22"/>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03</a:t>
            </a:r>
            <a:endParaRPr sz="1100"/>
          </a:p>
        </p:txBody>
      </p:sp>
      <p:sp>
        <p:nvSpPr>
          <p:cNvPr id="89" name="Google Shape;89;p22"/>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The control problem</a:t>
            </a:r>
            <a:endParaRPr sz="1100"/>
          </a:p>
        </p:txBody>
      </p:sp>
      <p:sp>
        <p:nvSpPr>
          <p:cNvPr id="90" name="Google Shape;90;p22"/>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Connecting human intentions to testable changes inside a model</a:t>
            </a:r>
            <a:endParaRPr sz="1100"/>
          </a:p>
        </p:txBody>
      </p:sp>
      <p:sp>
        <p:nvSpPr>
          <p:cNvPr id="91" name="Google Shape;91;p22"/>
          <p:cNvSpPr/>
          <p:nvPr/>
        </p:nvSpPr>
        <p:spPr>
          <a:xfrm>
            <a:off x="500063" y="2278856"/>
            <a:ext cx="2035969" cy="4643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Task adaptation</a:t>
            </a:r>
            <a:endParaRPr sz="1100"/>
          </a:p>
        </p:txBody>
      </p:sp>
      <p:sp>
        <p:nvSpPr>
          <p:cNvPr id="92" name="Google Shape;92;p22"/>
          <p:cNvSpPr/>
          <p:nvPr/>
        </p:nvSpPr>
        <p:spPr>
          <a:xfrm>
            <a:off x="2714625" y="2300288"/>
            <a:ext cx="5822156" cy="600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Different inputs may benefit from different internal settings.</a:t>
            </a:r>
            <a:endParaRPr sz="1100"/>
          </a:p>
        </p:txBody>
      </p:sp>
      <p:sp>
        <p:nvSpPr>
          <p:cNvPr id="93" name="Google Shape;93;p22"/>
          <p:cNvSpPr/>
          <p:nvPr/>
        </p:nvSpPr>
        <p:spPr>
          <a:xfrm>
            <a:off x="500063" y="3050381"/>
            <a:ext cx="2035969" cy="4643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Precise control</a:t>
            </a:r>
            <a:endParaRPr sz="1100"/>
          </a:p>
        </p:txBody>
      </p:sp>
      <p:sp>
        <p:nvSpPr>
          <p:cNvPr id="94" name="Google Shape;94;p22"/>
          <p:cNvSpPr/>
          <p:nvPr/>
        </p:nvSpPr>
        <p:spPr>
          <a:xfrm>
            <a:off x="2714625" y="3071813"/>
            <a:ext cx="5822156" cy="600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Change a concept and measure effects on other capabilities.</a:t>
            </a:r>
            <a:endParaRPr sz="1100"/>
          </a:p>
        </p:txBody>
      </p:sp>
      <p:sp>
        <p:nvSpPr>
          <p:cNvPr id="95" name="Google Shape;95;p22"/>
          <p:cNvSpPr/>
          <p:nvPr/>
        </p:nvSpPr>
        <p:spPr>
          <a:xfrm>
            <a:off x="500063" y="3821906"/>
            <a:ext cx="2035969" cy="4643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Continuity</a:t>
            </a:r>
            <a:endParaRPr sz="1100"/>
          </a:p>
        </p:txBody>
      </p:sp>
      <p:sp>
        <p:nvSpPr>
          <p:cNvPr id="96" name="Google Shape;96;p22"/>
          <p:cNvSpPr/>
          <p:nvPr/>
        </p:nvSpPr>
        <p:spPr>
          <a:xfrm>
            <a:off x="2714625" y="3843338"/>
            <a:ext cx="5822156" cy="600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Preserve identity and experience across interactions.</a:t>
            </a:r>
            <a:endParaRPr sz="1100"/>
          </a:p>
        </p:txBody>
      </p:sp>
      <p:pic>
        <p:nvPicPr>
          <p:cNvPr id="97" name="Google Shape;97;p22"/>
          <p:cNvPicPr preferRelativeResize="0"/>
          <p:nvPr/>
        </p:nvPicPr>
        <p:blipFill>
          <a:blip r:embed="rId3">
            <a:alphaModFix/>
          </a:blip>
          <a:stretch>
            <a:fillRect/>
          </a:stretch>
        </p:blipFill>
        <p:spPr>
          <a:xfrm>
            <a:off x="318925" y="22863"/>
            <a:ext cx="893402" cy="6700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102" name="Shape 102"/>
        <p:cNvGrpSpPr/>
        <p:nvPr/>
      </p:nvGrpSpPr>
      <p:grpSpPr>
        <a:xfrm>
          <a:off x="0" y="0"/>
          <a:ext cx="0" cy="0"/>
          <a:chOff x="0" y="0"/>
          <a:chExt cx="0" cy="0"/>
        </a:xfrm>
      </p:grpSpPr>
      <p:sp>
        <p:nvSpPr>
          <p:cNvPr id="103" name="Google Shape;103;p23"/>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04</a:t>
            </a:r>
            <a:endParaRPr sz="1100"/>
          </a:p>
        </p:txBody>
      </p:sp>
      <p:sp>
        <p:nvSpPr>
          <p:cNvPr id="104" name="Google Shape;104;p23"/>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Concept Geometry</a:t>
            </a:r>
            <a:endParaRPr sz="1100"/>
          </a:p>
        </p:txBody>
      </p:sp>
      <p:sp>
        <p:nvSpPr>
          <p:cNvPr id="105" name="Google Shape;105;p23"/>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Organizing actionable concept directions and documenting when they work</a:t>
            </a:r>
            <a:endParaRPr sz="1100"/>
          </a:p>
        </p:txBody>
      </p:sp>
      <p:sp>
        <p:nvSpPr>
          <p:cNvPr id="106" name="Google Shape;106;p23"/>
          <p:cNvSpPr/>
          <p:nvPr/>
        </p:nvSpPr>
        <p:spPr>
          <a:xfrm>
            <a:off x="500063" y="2307431"/>
            <a:ext cx="3500438" cy="4429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200">
                <a:solidFill>
                  <a:srgbClr val="B86A42"/>
                </a:solidFill>
                <a:latin typeface="Arial"/>
                <a:ea typeface="Arial"/>
                <a:cs typeface="Arial"/>
                <a:sym typeface="Arial"/>
              </a:rPr>
              <a:t>Human concepts</a:t>
            </a:r>
            <a:endParaRPr sz="1100"/>
          </a:p>
        </p:txBody>
      </p:sp>
      <p:sp>
        <p:nvSpPr>
          <p:cNvPr id="107" name="Google Shape;107;p23"/>
          <p:cNvSpPr/>
          <p:nvPr/>
        </p:nvSpPr>
        <p:spPr>
          <a:xfrm>
            <a:off x="514350" y="2943225"/>
            <a:ext cx="3500438"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Caution, courage, empathy, curiosity</a:t>
            </a:r>
            <a:endParaRPr sz="1100"/>
          </a:p>
        </p:txBody>
      </p:sp>
      <p:sp>
        <p:nvSpPr>
          <p:cNvPr id="108" name="Google Shape;108;p23"/>
          <p:cNvSpPr/>
          <p:nvPr/>
        </p:nvSpPr>
        <p:spPr>
          <a:xfrm>
            <a:off x="4893469" y="2307431"/>
            <a:ext cx="3643313" cy="4429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200">
                <a:solidFill>
                  <a:srgbClr val="273C34"/>
                </a:solidFill>
                <a:latin typeface="Arial"/>
                <a:ea typeface="Arial"/>
                <a:cs typeface="Arial"/>
                <a:sym typeface="Arial"/>
              </a:rPr>
              <a:t>Model interventions</a:t>
            </a:r>
            <a:endParaRPr sz="1100"/>
          </a:p>
        </p:txBody>
      </p:sp>
      <p:sp>
        <p:nvSpPr>
          <p:cNvPr id="109" name="Google Shape;109;p23"/>
          <p:cNvSpPr/>
          <p:nvPr/>
        </p:nvSpPr>
        <p:spPr>
          <a:xfrm>
            <a:off x="4914900" y="2943225"/>
            <a:ext cx="3643313"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6F7E75"/>
                </a:solidFill>
                <a:latin typeface="Arial"/>
                <a:ea typeface="Arial"/>
                <a:cs typeface="Arial"/>
                <a:sym typeface="Arial"/>
              </a:rPr>
              <a:t>Direction, layer, intervention strength</a:t>
            </a:r>
            <a:endParaRPr sz="1100"/>
          </a:p>
          <a:p>
            <a:pPr indent="0" lvl="0" marL="0" marR="0" rtl="0" algn="l">
              <a:spcBef>
                <a:spcPts val="0"/>
              </a:spcBef>
              <a:spcAft>
                <a:spcPts val="0"/>
              </a:spcAft>
              <a:buNone/>
            </a:pPr>
            <a:r>
              <a:rPr b="0" lang="en" sz="1600">
                <a:solidFill>
                  <a:srgbClr val="6F7E75"/>
                </a:solidFill>
                <a:latin typeface="Arial"/>
                <a:ea typeface="Arial"/>
                <a:cs typeface="Arial"/>
                <a:sym typeface="Arial"/>
              </a:rPr>
              <a:t>Origin, scope, evaluation, version</a:t>
            </a:r>
            <a:endParaRPr sz="1100"/>
          </a:p>
        </p:txBody>
      </p:sp>
      <p:sp>
        <p:nvSpPr>
          <p:cNvPr id="110" name="Google Shape;110;p23"/>
          <p:cNvSpPr/>
          <p:nvPr/>
        </p:nvSpPr>
        <p:spPr>
          <a:xfrm>
            <a:off x="514350" y="4243388"/>
            <a:ext cx="8001000" cy="4643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273C34"/>
                </a:solidFill>
                <a:latin typeface="Arial"/>
                <a:ea typeface="Arial"/>
                <a:cs typeface="Arial"/>
                <a:sym typeface="Arial"/>
              </a:rPr>
              <a:t>A direction becomes useful through repeatable behavioral validation.</a:t>
            </a:r>
            <a:endParaRPr sz="1100"/>
          </a:p>
        </p:txBody>
      </p:sp>
      <p:pic>
        <p:nvPicPr>
          <p:cNvPr id="111" name="Google Shape;111;p23"/>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116" name="Shape 116"/>
        <p:cNvGrpSpPr/>
        <p:nvPr/>
      </p:nvGrpSpPr>
      <p:grpSpPr>
        <a:xfrm>
          <a:off x="0" y="0"/>
          <a:ext cx="0" cy="0"/>
          <a:chOff x="0" y="0"/>
          <a:chExt cx="0" cy="0"/>
        </a:xfrm>
      </p:grpSpPr>
      <p:sp>
        <p:nvSpPr>
          <p:cNvPr id="117" name="Google Shape;117;p24"/>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05</a:t>
            </a:r>
            <a:endParaRPr sz="1100"/>
          </a:p>
        </p:txBody>
      </p:sp>
      <p:sp>
        <p:nvSpPr>
          <p:cNvPr id="118" name="Google Shape;118;p24"/>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One foundation, two product paths</a:t>
            </a:r>
            <a:endParaRPr sz="1100"/>
          </a:p>
        </p:txBody>
      </p:sp>
      <p:sp>
        <p:nvSpPr>
          <p:cNvPr id="119" name="Google Shape;119;p24"/>
          <p:cNvSpPr/>
          <p:nvPr/>
        </p:nvSpPr>
        <p:spPr>
          <a:xfrm>
            <a:off x="500063" y="1885950"/>
            <a:ext cx="3714750" cy="471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400">
                <a:solidFill>
                  <a:srgbClr val="273C34"/>
                </a:solidFill>
                <a:latin typeface="Arial"/>
                <a:ea typeface="Arial"/>
                <a:cs typeface="Arial"/>
                <a:sym typeface="Arial"/>
              </a:rPr>
              <a:t>IOTA Navigator</a:t>
            </a:r>
            <a:endParaRPr sz="1100"/>
          </a:p>
        </p:txBody>
      </p:sp>
      <p:sp>
        <p:nvSpPr>
          <p:cNvPr id="120" name="Google Shape;120;p24"/>
          <p:cNvSpPr/>
          <p:nvPr/>
        </p:nvSpPr>
        <p:spPr>
          <a:xfrm>
            <a:off x="514350" y="2521744"/>
            <a:ext cx="37147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B86A42"/>
                </a:solidFill>
                <a:latin typeface="Arial"/>
                <a:ea typeface="Arial"/>
                <a:cs typeface="Arial"/>
                <a:sym typeface="Arial"/>
              </a:rPr>
              <a:t>Selection within existing Geometry</a:t>
            </a:r>
            <a:endParaRPr sz="1100"/>
          </a:p>
        </p:txBody>
      </p:sp>
      <p:sp>
        <p:nvSpPr>
          <p:cNvPr id="121" name="Google Shape;121;p24"/>
          <p:cNvSpPr/>
          <p:nvPr/>
        </p:nvSpPr>
        <p:spPr>
          <a:xfrm>
            <a:off x="514350" y="3264694"/>
            <a:ext cx="3643313"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6F7E75"/>
                </a:solidFill>
                <a:latin typeface="Arial"/>
                <a:ea typeface="Arial"/>
                <a:cs typeface="Arial"/>
                <a:sym typeface="Arial"/>
              </a:rPr>
              <a:t>Select useful Steering for each input.</a:t>
            </a:r>
            <a:endParaRPr sz="1100"/>
          </a:p>
          <a:p>
            <a:pPr indent="0" lvl="0" marL="0" marR="0" rtl="0" algn="l">
              <a:spcBef>
                <a:spcPts val="0"/>
              </a:spcBef>
              <a:spcAft>
                <a:spcPts val="0"/>
              </a:spcAft>
              <a:buNone/>
            </a:pPr>
            <a:r>
              <a:rPr b="0" lang="en" sz="1600">
                <a:solidFill>
                  <a:srgbClr val="6F7E75"/>
                </a:solidFill>
                <a:latin typeface="Arial"/>
                <a:ea typeface="Arial"/>
                <a:cs typeface="Arial"/>
                <a:sym typeface="Arial"/>
              </a:rPr>
              <a:t>Test improvements in task performance.</a:t>
            </a:r>
            <a:endParaRPr sz="1100"/>
          </a:p>
        </p:txBody>
      </p:sp>
      <p:sp>
        <p:nvSpPr>
          <p:cNvPr id="122" name="Google Shape;122;p24"/>
          <p:cNvSpPr/>
          <p:nvPr/>
        </p:nvSpPr>
        <p:spPr>
          <a:xfrm>
            <a:off x="4907756" y="1885950"/>
            <a:ext cx="3714750" cy="471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400">
                <a:solidFill>
                  <a:srgbClr val="273C34"/>
                </a:solidFill>
                <a:latin typeface="Arial"/>
                <a:ea typeface="Arial"/>
                <a:cs typeface="Arial"/>
                <a:sym typeface="Arial"/>
              </a:rPr>
              <a:t>IOTA Search</a:t>
            </a:r>
            <a:endParaRPr sz="1100"/>
          </a:p>
        </p:txBody>
      </p:sp>
      <p:sp>
        <p:nvSpPr>
          <p:cNvPr id="123" name="Google Shape;123;p24"/>
          <p:cNvSpPr/>
          <p:nvPr/>
        </p:nvSpPr>
        <p:spPr>
          <a:xfrm>
            <a:off x="4922044" y="2521744"/>
            <a:ext cx="37147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Creating digital life</a:t>
            </a:r>
            <a:endParaRPr sz="1100"/>
          </a:p>
        </p:txBody>
      </p:sp>
      <p:sp>
        <p:nvSpPr>
          <p:cNvPr id="124" name="Google Shape;124;p24"/>
          <p:cNvSpPr/>
          <p:nvPr/>
        </p:nvSpPr>
        <p:spPr>
          <a:xfrm>
            <a:off x="4922044" y="3264694"/>
            <a:ext cx="3643313"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6F7E75"/>
                </a:solidFill>
                <a:latin typeface="Arial"/>
                <a:ea typeface="Arial"/>
                <a:cs typeface="Arial"/>
                <a:sym typeface="Arial"/>
              </a:rPr>
              <a:t>Shape a persistent digital individual.</a:t>
            </a:r>
            <a:endParaRPr sz="1100"/>
          </a:p>
          <a:p>
            <a:pPr indent="0" lvl="0" marL="0" marR="0" rtl="0" algn="l">
              <a:spcBef>
                <a:spcPts val="0"/>
              </a:spcBef>
              <a:spcAft>
                <a:spcPts val="0"/>
              </a:spcAft>
              <a:buNone/>
            </a:pPr>
            <a:r>
              <a:rPr b="0" lang="en" sz="1600">
                <a:solidFill>
                  <a:srgbClr val="6F7E75"/>
                </a:solidFill>
                <a:latin typeface="Arial"/>
                <a:ea typeface="Arial"/>
                <a:cs typeface="Arial"/>
                <a:sym typeface="Arial"/>
              </a:rPr>
              <a:t>Explore identity, memory, and growth.</a:t>
            </a:r>
            <a:endParaRPr sz="1100"/>
          </a:p>
        </p:txBody>
      </p:sp>
      <p:sp>
        <p:nvSpPr>
          <p:cNvPr id="125" name="Google Shape;125;p24"/>
          <p:cNvSpPr/>
          <p:nvPr/>
        </p:nvSpPr>
        <p:spPr>
          <a:xfrm>
            <a:off x="514350" y="4429125"/>
            <a:ext cx="8001000" cy="3571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Shared foundation: Concept Geometry and direction evaluation</a:t>
            </a:r>
            <a:endParaRPr sz="1100"/>
          </a:p>
        </p:txBody>
      </p:sp>
      <p:pic>
        <p:nvPicPr>
          <p:cNvPr id="126" name="Google Shape;126;p24"/>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131" name="Shape 131"/>
        <p:cNvGrpSpPr/>
        <p:nvPr/>
      </p:nvGrpSpPr>
      <p:grpSpPr>
        <a:xfrm>
          <a:off x="0" y="0"/>
          <a:ext cx="0" cy="0"/>
          <a:chOff x="0" y="0"/>
          <a:chExt cx="0" cy="0"/>
        </a:xfrm>
      </p:grpSpPr>
      <p:sp>
        <p:nvSpPr>
          <p:cNvPr id="132" name="Google Shape;132;p25"/>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06</a:t>
            </a:r>
            <a:endParaRPr sz="1100"/>
          </a:p>
        </p:txBody>
      </p:sp>
      <p:sp>
        <p:nvSpPr>
          <p:cNvPr id="133" name="Google Shape;133;p25"/>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What Navigator does</a:t>
            </a:r>
            <a:endParaRPr sz="1100"/>
          </a:p>
        </p:txBody>
      </p:sp>
      <p:sp>
        <p:nvSpPr>
          <p:cNvPr id="134" name="Google Shape;134;p25"/>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Selecting useful Steering for an input within a fixed Geometry</a:t>
            </a:r>
            <a:endParaRPr sz="1100"/>
          </a:p>
        </p:txBody>
      </p:sp>
      <p:sp>
        <p:nvSpPr>
          <p:cNvPr id="135" name="Google Shape;135;p25"/>
          <p:cNvSpPr/>
          <p:nvPr/>
        </p:nvSpPr>
        <p:spPr>
          <a:xfrm>
            <a:off x="500063" y="2371725"/>
            <a:ext cx="1643063"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900">
                <a:solidFill>
                  <a:srgbClr val="B86A42"/>
                </a:solidFill>
                <a:latin typeface="Arial"/>
                <a:ea typeface="Arial"/>
                <a:cs typeface="Arial"/>
                <a:sym typeface="Arial"/>
              </a:rPr>
              <a:t>01</a:t>
            </a:r>
            <a:endParaRPr sz="1100"/>
          </a:p>
        </p:txBody>
      </p:sp>
      <p:sp>
        <p:nvSpPr>
          <p:cNvPr id="136" name="Google Shape;136;p25"/>
          <p:cNvSpPr/>
          <p:nvPr/>
        </p:nvSpPr>
        <p:spPr>
          <a:xfrm>
            <a:off x="500063" y="3036094"/>
            <a:ext cx="1907381"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273C34"/>
                </a:solidFill>
                <a:latin typeface="Arial"/>
                <a:ea typeface="Arial"/>
                <a:cs typeface="Arial"/>
                <a:sym typeface="Arial"/>
              </a:rPr>
              <a:t>Task input</a:t>
            </a:r>
            <a:endParaRPr sz="1100"/>
          </a:p>
        </p:txBody>
      </p:sp>
      <p:sp>
        <p:nvSpPr>
          <p:cNvPr id="137" name="Google Shape;137;p25"/>
          <p:cNvSpPr/>
          <p:nvPr/>
        </p:nvSpPr>
        <p:spPr>
          <a:xfrm>
            <a:off x="500063" y="3736181"/>
            <a:ext cx="1893094"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Identify the current need</a:t>
            </a:r>
            <a:endParaRPr sz="1100"/>
          </a:p>
        </p:txBody>
      </p:sp>
      <p:sp>
        <p:nvSpPr>
          <p:cNvPr id="138" name="Google Shape;138;p25"/>
          <p:cNvSpPr/>
          <p:nvPr/>
        </p:nvSpPr>
        <p:spPr>
          <a:xfrm>
            <a:off x="2628900" y="2371725"/>
            <a:ext cx="1643063"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900">
                <a:solidFill>
                  <a:srgbClr val="B86A42"/>
                </a:solidFill>
                <a:latin typeface="Arial"/>
                <a:ea typeface="Arial"/>
                <a:cs typeface="Arial"/>
                <a:sym typeface="Arial"/>
              </a:rPr>
              <a:t>02</a:t>
            </a:r>
            <a:endParaRPr sz="1100"/>
          </a:p>
        </p:txBody>
      </p:sp>
      <p:sp>
        <p:nvSpPr>
          <p:cNvPr id="139" name="Google Shape;139;p25"/>
          <p:cNvSpPr/>
          <p:nvPr/>
        </p:nvSpPr>
        <p:spPr>
          <a:xfrm>
            <a:off x="2628900" y="3036094"/>
            <a:ext cx="1907381"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273C34"/>
                </a:solidFill>
                <a:latin typeface="Arial"/>
                <a:ea typeface="Arial"/>
                <a:cs typeface="Arial"/>
                <a:sym typeface="Arial"/>
              </a:rPr>
              <a:t>Direction selection</a:t>
            </a:r>
            <a:endParaRPr sz="1100"/>
          </a:p>
        </p:txBody>
      </p:sp>
      <p:sp>
        <p:nvSpPr>
          <p:cNvPr id="140" name="Google Shape;140;p25"/>
          <p:cNvSpPr/>
          <p:nvPr/>
        </p:nvSpPr>
        <p:spPr>
          <a:xfrm>
            <a:off x="2628900" y="3736181"/>
            <a:ext cx="1893094"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Search the fixed Geometry</a:t>
            </a:r>
            <a:endParaRPr sz="1100"/>
          </a:p>
        </p:txBody>
      </p:sp>
      <p:sp>
        <p:nvSpPr>
          <p:cNvPr id="141" name="Google Shape;141;p25"/>
          <p:cNvSpPr/>
          <p:nvPr/>
        </p:nvSpPr>
        <p:spPr>
          <a:xfrm>
            <a:off x="4757738" y="2371725"/>
            <a:ext cx="1643063"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900">
                <a:solidFill>
                  <a:srgbClr val="B86A42"/>
                </a:solidFill>
                <a:latin typeface="Arial"/>
                <a:ea typeface="Arial"/>
                <a:cs typeface="Arial"/>
                <a:sym typeface="Arial"/>
              </a:rPr>
              <a:t>03</a:t>
            </a:r>
            <a:endParaRPr sz="1100"/>
          </a:p>
        </p:txBody>
      </p:sp>
      <p:sp>
        <p:nvSpPr>
          <p:cNvPr id="142" name="Google Shape;142;p25"/>
          <p:cNvSpPr/>
          <p:nvPr/>
        </p:nvSpPr>
        <p:spPr>
          <a:xfrm>
            <a:off x="4757738" y="3036094"/>
            <a:ext cx="1907381"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273C34"/>
                </a:solidFill>
                <a:latin typeface="Arial"/>
                <a:ea typeface="Arial"/>
                <a:cs typeface="Arial"/>
                <a:sym typeface="Arial"/>
              </a:rPr>
              <a:t>Intervention</a:t>
            </a:r>
            <a:endParaRPr sz="1100"/>
          </a:p>
        </p:txBody>
      </p:sp>
      <p:sp>
        <p:nvSpPr>
          <p:cNvPr id="143" name="Google Shape;143;p25"/>
          <p:cNvSpPr/>
          <p:nvPr/>
        </p:nvSpPr>
        <p:spPr>
          <a:xfrm>
            <a:off x="4757738" y="3736181"/>
            <a:ext cx="1893094"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Set strength and generate</a:t>
            </a:r>
            <a:endParaRPr sz="1100"/>
          </a:p>
        </p:txBody>
      </p:sp>
      <p:sp>
        <p:nvSpPr>
          <p:cNvPr id="144" name="Google Shape;144;p25"/>
          <p:cNvSpPr/>
          <p:nvPr/>
        </p:nvSpPr>
        <p:spPr>
          <a:xfrm>
            <a:off x="6886575" y="2371725"/>
            <a:ext cx="1643063"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900">
                <a:solidFill>
                  <a:srgbClr val="B86A42"/>
                </a:solidFill>
                <a:latin typeface="Arial"/>
                <a:ea typeface="Arial"/>
                <a:cs typeface="Arial"/>
                <a:sym typeface="Arial"/>
              </a:rPr>
              <a:t>04</a:t>
            </a:r>
            <a:endParaRPr sz="1100"/>
          </a:p>
        </p:txBody>
      </p:sp>
      <p:sp>
        <p:nvSpPr>
          <p:cNvPr id="145" name="Google Shape;145;p25"/>
          <p:cNvSpPr/>
          <p:nvPr/>
        </p:nvSpPr>
        <p:spPr>
          <a:xfrm>
            <a:off x="6886575" y="3036094"/>
            <a:ext cx="1907381"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273C34"/>
                </a:solidFill>
                <a:latin typeface="Arial"/>
                <a:ea typeface="Arial"/>
                <a:cs typeface="Arial"/>
                <a:sym typeface="Arial"/>
              </a:rPr>
              <a:t>Evaluation</a:t>
            </a:r>
            <a:endParaRPr sz="1100"/>
          </a:p>
        </p:txBody>
      </p:sp>
      <p:sp>
        <p:nvSpPr>
          <p:cNvPr id="146" name="Google Shape;146;p25"/>
          <p:cNvSpPr/>
          <p:nvPr/>
        </p:nvSpPr>
        <p:spPr>
          <a:xfrm>
            <a:off x="6886575" y="3736181"/>
            <a:ext cx="1893094" cy="5357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Compare benefits and costs</a:t>
            </a:r>
            <a:endParaRPr sz="1100"/>
          </a:p>
        </p:txBody>
      </p:sp>
      <p:sp>
        <p:nvSpPr>
          <p:cNvPr id="147" name="Google Shape;147;p25"/>
          <p:cNvSpPr/>
          <p:nvPr/>
        </p:nvSpPr>
        <p:spPr>
          <a:xfrm>
            <a:off x="514350" y="4521994"/>
            <a:ext cx="8001000" cy="3571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Geometry stays fixed at this stage. No intervention is a valid choice.</a:t>
            </a:r>
            <a:endParaRPr sz="1100"/>
          </a:p>
        </p:txBody>
      </p:sp>
      <p:pic>
        <p:nvPicPr>
          <p:cNvPr id="148" name="Google Shape;148;p25"/>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153" name="Shape 153"/>
        <p:cNvGrpSpPr/>
        <p:nvPr/>
      </p:nvGrpSpPr>
      <p:grpSpPr>
        <a:xfrm>
          <a:off x="0" y="0"/>
          <a:ext cx="0" cy="0"/>
          <a:chOff x="0" y="0"/>
          <a:chExt cx="0" cy="0"/>
        </a:xfrm>
      </p:grpSpPr>
      <p:sp>
        <p:nvSpPr>
          <p:cNvPr id="154" name="Google Shape;154;p26"/>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07</a:t>
            </a:r>
            <a:endParaRPr sz="1100"/>
          </a:p>
        </p:txBody>
      </p:sp>
      <p:sp>
        <p:nvSpPr>
          <p:cNvPr id="155" name="Google Shape;155;p26"/>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Validating Navigator performance</a:t>
            </a:r>
            <a:endParaRPr sz="1100"/>
          </a:p>
        </p:txBody>
      </p:sp>
      <p:sp>
        <p:nvSpPr>
          <p:cNvPr id="156" name="Google Shape;156;p26"/>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Report benefits on unseen inputs together with costs and side effects</a:t>
            </a:r>
            <a:endParaRPr sz="1100"/>
          </a:p>
        </p:txBody>
      </p:sp>
      <p:graphicFrame>
        <p:nvGraphicFramePr>
          <p:cNvPr id="157" name="Google Shape;157;p26"/>
          <p:cNvGraphicFramePr/>
          <p:nvPr/>
        </p:nvGraphicFramePr>
        <p:xfrm>
          <a:off x="471488" y="2164556"/>
          <a:ext cx="3000000" cy="3000000"/>
        </p:xfrm>
        <a:graphic>
          <a:graphicData uri="http://schemas.openxmlformats.org/drawingml/2006/table">
            <a:tbl>
              <a:tblPr>
                <a:noFill/>
                <a:tableStyleId>{D0CA1BF0-0B7C-4AC3-93AB-0C1121D43C40}</a:tableStyleId>
              </a:tblPr>
              <a:tblGrid>
                <a:gridCol w="3429000"/>
                <a:gridCol w="4772025"/>
              </a:tblGrid>
              <a:tr h="478625">
                <a:tc>
                  <a:txBody>
                    <a:bodyPr/>
                    <a:lstStyle/>
                    <a:p>
                      <a:pPr indent="0" lvl="0" marL="0" marR="0" rtl="0" algn="l">
                        <a:spcBef>
                          <a:spcPts val="0"/>
                        </a:spcBef>
                        <a:spcAft>
                          <a:spcPts val="0"/>
                        </a:spcAft>
                        <a:buClr>
                          <a:srgbClr val="F7F6F0"/>
                        </a:buClr>
                        <a:buSzPts val="1300"/>
                        <a:buFont typeface="Arial"/>
                        <a:buNone/>
                      </a:pPr>
                      <a:r>
                        <a:rPr b="1" lang="en" sz="1300" u="none" cap="none" strike="noStrike">
                          <a:solidFill>
                            <a:srgbClr val="F7F6F0"/>
                          </a:solidFill>
                          <a:latin typeface="Arial"/>
                          <a:ea typeface="Arial"/>
                          <a:cs typeface="Arial"/>
                          <a:sym typeface="Arial"/>
                        </a:rPr>
                        <a:t>Comparison</a:t>
                      </a:r>
                      <a:endParaRPr sz="1100"/>
                    </a:p>
                  </a:txBody>
                  <a:tcPr marT="34300" marB="34300" marR="68600" marL="68600" anchor="ctr">
                    <a:lnL cap="flat" cmpd="sng" w="9525">
                      <a:solidFill>
                        <a:srgbClr val="D4DAD2"/>
                      </a:solidFill>
                      <a:prstDash val="solid"/>
                      <a:round/>
                      <a:headEnd len="sm" w="sm" type="none"/>
                      <a:tailEnd len="sm" w="sm" type="none"/>
                    </a:lnL>
                    <a:lnT cap="flat" cmpd="sng" w="9525">
                      <a:solidFill>
                        <a:srgbClr val="D4DAD2"/>
                      </a:solidFill>
                      <a:prstDash val="solid"/>
                      <a:round/>
                      <a:headEnd len="sm" w="sm" type="none"/>
                      <a:tailEnd len="sm" w="sm" type="none"/>
                    </a:lnT>
                    <a:solidFill>
                      <a:srgbClr val="273C34"/>
                    </a:solidFill>
                  </a:tcPr>
                </a:tc>
                <a:tc>
                  <a:txBody>
                    <a:bodyPr/>
                    <a:lstStyle/>
                    <a:p>
                      <a:pPr indent="0" lvl="0" marL="0" marR="0" rtl="0" algn="l">
                        <a:spcBef>
                          <a:spcPts val="0"/>
                        </a:spcBef>
                        <a:spcAft>
                          <a:spcPts val="0"/>
                        </a:spcAft>
                        <a:buClr>
                          <a:srgbClr val="F7F6F0"/>
                        </a:buClr>
                        <a:buSzPts val="1300"/>
                        <a:buFont typeface="Arial"/>
                        <a:buNone/>
                      </a:pPr>
                      <a:r>
                        <a:rPr b="1" lang="en" sz="1300">
                          <a:solidFill>
                            <a:srgbClr val="F7F6F0"/>
                          </a:solidFill>
                          <a:latin typeface="Arial"/>
                          <a:ea typeface="Arial"/>
                          <a:cs typeface="Arial"/>
                          <a:sym typeface="Arial"/>
                        </a:rPr>
                        <a:t>Question</a:t>
                      </a:r>
                      <a:endParaRPr sz="1100"/>
                    </a:p>
                  </a:txBody>
                  <a:tcPr marT="34300" marB="34300" marR="68600" marL="68600" anchor="ctr">
                    <a:lnR cap="flat" cmpd="sng" w="9525">
                      <a:solidFill>
                        <a:srgbClr val="D4DAD2"/>
                      </a:solidFill>
                      <a:prstDash val="solid"/>
                      <a:round/>
                      <a:headEnd len="sm" w="sm" type="none"/>
                      <a:tailEnd len="sm" w="sm" type="none"/>
                    </a:lnR>
                    <a:lnT cap="flat" cmpd="sng" w="9525">
                      <a:solidFill>
                        <a:srgbClr val="D4DAD2"/>
                      </a:solidFill>
                      <a:prstDash val="solid"/>
                      <a:round/>
                      <a:headEnd len="sm" w="sm" type="none"/>
                      <a:tailEnd len="sm" w="sm" type="none"/>
                    </a:lnT>
                    <a:solidFill>
                      <a:srgbClr val="273C34"/>
                    </a:solidFill>
                  </a:tcPr>
                </a:tc>
              </a:tr>
              <a:tr h="478625">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Base model and optimized prompts</a:t>
                      </a:r>
                      <a:endParaRPr sz="1100"/>
                    </a:p>
                  </a:txBody>
                  <a:tcPr marT="34300" marB="34300" marR="68600" marL="68600" anchor="ctr">
                    <a:lnL cap="flat" cmpd="sng" w="9525">
                      <a:solidFill>
                        <a:srgbClr val="D4DAD2"/>
                      </a:solidFill>
                      <a:prstDash val="solid"/>
                      <a:round/>
                      <a:headEnd len="sm" w="sm" type="none"/>
                      <a:tailEnd len="sm" w="sm" type="none"/>
                    </a:lnL>
                    <a:solidFill>
                      <a:srgbClr val="F6F5F1"/>
                    </a:solidFill>
                  </a:tcPr>
                </a:tc>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How much value does internal control add?</a:t>
                      </a:r>
                      <a:endParaRPr sz="1100"/>
                    </a:p>
                  </a:txBody>
                  <a:tcPr marT="34300" marB="34300" marR="68600" marL="68600" anchor="ctr">
                    <a:lnR cap="flat" cmpd="sng" w="9525">
                      <a:solidFill>
                        <a:srgbClr val="D4DAD2"/>
                      </a:solidFill>
                      <a:prstDash val="solid"/>
                      <a:round/>
                      <a:headEnd len="sm" w="sm" type="none"/>
                      <a:tailEnd len="sm" w="sm" type="none"/>
                    </a:lnR>
                    <a:solidFill>
                      <a:srgbClr val="F6F5F1"/>
                    </a:solidFill>
                  </a:tcPr>
                </a:tc>
              </a:tr>
              <a:tr h="478625">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Static Steering and random selection</a:t>
                      </a:r>
                      <a:endParaRPr sz="1100"/>
                    </a:p>
                  </a:txBody>
                  <a:tcPr marT="34300" marB="34300" marR="68600" marL="68600" anchor="ctr">
                    <a:lnL cap="flat" cmpd="sng" w="9525">
                      <a:solidFill>
                        <a:srgbClr val="D4DAD2"/>
                      </a:solidFill>
                      <a:prstDash val="solid"/>
                      <a:round/>
                      <a:headEnd len="sm" w="sm" type="none"/>
                      <a:tailEnd len="sm" w="sm" type="none"/>
                    </a:lnL>
                    <a:solidFill>
                      <a:srgbClr val="F6F5F1"/>
                    </a:solidFill>
                  </a:tcPr>
                </a:tc>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Does dynamic selection itself help?</a:t>
                      </a:r>
                      <a:endParaRPr sz="1100"/>
                    </a:p>
                  </a:txBody>
                  <a:tcPr marT="34300" marB="34300" marR="68600" marL="68600" anchor="ctr">
                    <a:lnR cap="flat" cmpd="sng" w="9525">
                      <a:solidFill>
                        <a:srgbClr val="D4DAD2"/>
                      </a:solidFill>
                      <a:prstDash val="solid"/>
                      <a:round/>
                      <a:headEnd len="sm" w="sm" type="none"/>
                      <a:tailEnd len="sm" w="sm" type="none"/>
                    </a:lnR>
                    <a:solidFill>
                      <a:srgbClr val="F6F5F1"/>
                    </a:solidFill>
                  </a:tcPr>
                </a:tc>
              </a:tr>
              <a:tr h="478625">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Dynamic Navigator</a:t>
                      </a:r>
                      <a:endParaRPr sz="1100"/>
                    </a:p>
                  </a:txBody>
                  <a:tcPr marT="34300" marB="34300" marR="68600" marL="68600" anchor="ctr">
                    <a:lnL cap="flat" cmpd="sng" w="9525">
                      <a:solidFill>
                        <a:srgbClr val="D4DAD2"/>
                      </a:solidFill>
                      <a:prstDash val="solid"/>
                      <a:round/>
                      <a:headEnd len="sm" w="sm" type="none"/>
                      <a:tailEnd len="sm" w="sm" type="none"/>
                    </a:lnL>
                    <a:lnB cap="flat" cmpd="sng" w="9525">
                      <a:solidFill>
                        <a:srgbClr val="D4DAD2"/>
                      </a:solidFill>
                      <a:prstDash val="solid"/>
                      <a:round/>
                      <a:headEnd len="sm" w="sm" type="none"/>
                      <a:tailEnd len="sm" w="sm" type="none"/>
                    </a:lnB>
                    <a:solidFill>
                      <a:srgbClr val="F6F5F1"/>
                    </a:solidFill>
                  </a:tcPr>
                </a:tc>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Do gains persist on unseen inputs?</a:t>
                      </a:r>
                      <a:endParaRPr sz="1100"/>
                    </a:p>
                  </a:txBody>
                  <a:tcPr marT="34300" marB="34300" marR="68600" marL="68600" anchor="ctr">
                    <a:lnR cap="flat" cmpd="sng" w="9525">
                      <a:solidFill>
                        <a:srgbClr val="D4DAD2"/>
                      </a:solidFill>
                      <a:prstDash val="solid"/>
                      <a:round/>
                      <a:headEnd len="sm" w="sm" type="none"/>
                      <a:tailEnd len="sm" w="sm" type="none"/>
                    </a:lnR>
                    <a:lnB cap="flat" cmpd="sng" w="9525">
                      <a:solidFill>
                        <a:srgbClr val="D4DAD2"/>
                      </a:solidFill>
                      <a:prstDash val="solid"/>
                      <a:round/>
                      <a:headEnd len="sm" w="sm" type="none"/>
                      <a:tailEnd len="sm" w="sm" type="none"/>
                    </a:lnB>
                    <a:solidFill>
                      <a:srgbClr val="F6F5F1"/>
                    </a:solidFill>
                  </a:tcPr>
                </a:tc>
              </a:tr>
            </a:tbl>
          </a:graphicData>
        </a:graphic>
      </p:graphicFrame>
      <p:sp>
        <p:nvSpPr>
          <p:cNvPr id="158" name="Google Shape;158;p26"/>
          <p:cNvSpPr/>
          <p:nvPr/>
        </p:nvSpPr>
        <p:spPr>
          <a:xfrm>
            <a:off x="514350" y="4386263"/>
            <a:ext cx="8001000" cy="4143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Metrics: task success, added latency, compute cost, capability degradation</a:t>
            </a:r>
            <a:endParaRPr sz="1100"/>
          </a:p>
        </p:txBody>
      </p:sp>
      <p:pic>
        <p:nvPicPr>
          <p:cNvPr id="159" name="Google Shape;159;p26"/>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3A30"/>
        </a:solidFill>
      </p:bgPr>
    </p:bg>
    <p:spTree>
      <p:nvGrpSpPr>
        <p:cNvPr id="164" name="Shape 164"/>
        <p:cNvGrpSpPr/>
        <p:nvPr/>
      </p:nvGrpSpPr>
      <p:grpSpPr>
        <a:xfrm>
          <a:off x="0" y="0"/>
          <a:ext cx="0" cy="0"/>
          <a:chOff x="0" y="0"/>
          <a:chExt cx="0" cy="0"/>
        </a:xfrm>
      </p:grpSpPr>
      <p:sp>
        <p:nvSpPr>
          <p:cNvPr id="165" name="Google Shape;165;p27"/>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D7E1D8"/>
                </a:solidFill>
                <a:latin typeface="Arial"/>
                <a:ea typeface="Arial"/>
                <a:cs typeface="Arial"/>
                <a:sym typeface="Arial"/>
              </a:rPr>
              <a:t>08</a:t>
            </a:r>
            <a:endParaRPr sz="1100"/>
          </a:p>
        </p:txBody>
      </p:sp>
      <p:sp>
        <p:nvSpPr>
          <p:cNvPr id="166" name="Google Shape;166;p27"/>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F7F6F0"/>
                </a:solidFill>
                <a:latin typeface="Arial"/>
                <a:ea typeface="Arial"/>
                <a:cs typeface="Arial"/>
                <a:sym typeface="Arial"/>
              </a:rPr>
              <a:t>IOTA Search</a:t>
            </a:r>
            <a:endParaRPr sz="1100"/>
          </a:p>
        </p:txBody>
      </p:sp>
      <p:sp>
        <p:nvSpPr>
          <p:cNvPr id="167" name="Google Shape;167;p27"/>
          <p:cNvSpPr/>
          <p:nvPr/>
        </p:nvSpPr>
        <p:spPr>
          <a:xfrm>
            <a:off x="492919" y="1950244"/>
            <a:ext cx="8143875" cy="8429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4200">
                <a:solidFill>
                  <a:srgbClr val="F7F6F0"/>
                </a:solidFill>
                <a:latin typeface="Arial"/>
                <a:ea typeface="Arial"/>
                <a:cs typeface="Arial"/>
                <a:sym typeface="Arial"/>
              </a:rPr>
              <a:t>Creating </a:t>
            </a:r>
            <a:r>
              <a:rPr lang="en" sz="4200">
                <a:solidFill>
                  <a:srgbClr val="F7F6F0"/>
                </a:solidFill>
              </a:rPr>
              <a:t>D</a:t>
            </a:r>
            <a:r>
              <a:rPr b="0" lang="en" sz="4200">
                <a:solidFill>
                  <a:srgbClr val="F7F6F0"/>
                </a:solidFill>
                <a:latin typeface="Arial"/>
                <a:ea typeface="Arial"/>
                <a:cs typeface="Arial"/>
                <a:sym typeface="Arial"/>
              </a:rPr>
              <a:t>igital </a:t>
            </a:r>
            <a:r>
              <a:rPr lang="en" sz="4200">
                <a:solidFill>
                  <a:srgbClr val="F7F6F0"/>
                </a:solidFill>
              </a:rPr>
              <a:t>Individual</a:t>
            </a:r>
            <a:endParaRPr sz="1100"/>
          </a:p>
        </p:txBody>
      </p:sp>
      <p:sp>
        <p:nvSpPr>
          <p:cNvPr id="168" name="Google Shape;168;p27"/>
          <p:cNvSpPr/>
          <p:nvPr/>
        </p:nvSpPr>
        <p:spPr>
          <a:xfrm>
            <a:off x="521494" y="3207544"/>
            <a:ext cx="7858125" cy="928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000">
                <a:solidFill>
                  <a:srgbClr val="D7E1D8"/>
                </a:solidFill>
                <a:latin typeface="Arial"/>
                <a:ea typeface="Arial"/>
                <a:cs typeface="Arial"/>
                <a:sym typeface="Arial"/>
              </a:rPr>
              <a:t>A digital agent with a name, a persistent identity,</a:t>
            </a:r>
            <a:endParaRPr sz="1100"/>
          </a:p>
          <a:p>
            <a:pPr indent="0" lvl="0" marL="0" marR="0" rtl="0" algn="l">
              <a:spcBef>
                <a:spcPts val="0"/>
              </a:spcBef>
              <a:spcAft>
                <a:spcPts val="0"/>
              </a:spcAft>
              <a:buNone/>
            </a:pPr>
            <a:r>
              <a:rPr b="0" lang="en" sz="2000">
                <a:solidFill>
                  <a:srgbClr val="D7E1D8"/>
                </a:solidFill>
                <a:latin typeface="Arial"/>
                <a:ea typeface="Arial"/>
                <a:cs typeface="Arial"/>
                <a:sym typeface="Arial"/>
              </a:rPr>
              <a:t>and an inner structure that people can shape.</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173" name="Shape 173"/>
        <p:cNvGrpSpPr/>
        <p:nvPr/>
      </p:nvGrpSpPr>
      <p:grpSpPr>
        <a:xfrm>
          <a:off x="0" y="0"/>
          <a:ext cx="0" cy="0"/>
          <a:chOff x="0" y="0"/>
          <a:chExt cx="0" cy="0"/>
        </a:xfrm>
      </p:grpSpPr>
      <p:sp>
        <p:nvSpPr>
          <p:cNvPr id="174" name="Google Shape;174;p28"/>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09</a:t>
            </a:r>
            <a:endParaRPr sz="1100"/>
          </a:p>
        </p:txBody>
      </p:sp>
      <p:sp>
        <p:nvSpPr>
          <p:cNvPr id="175" name="Google Shape;175;p28"/>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Two interfaces for one individual</a:t>
            </a:r>
            <a:endParaRPr sz="1100"/>
          </a:p>
        </p:txBody>
      </p:sp>
      <p:sp>
        <p:nvSpPr>
          <p:cNvPr id="176" name="Google Shape;176;p28"/>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Internal editing and external interaction stay connected to the same agent</a:t>
            </a:r>
            <a:endParaRPr sz="1100"/>
          </a:p>
        </p:txBody>
      </p:sp>
      <p:sp>
        <p:nvSpPr>
          <p:cNvPr id="177" name="Google Shape;177;p28"/>
          <p:cNvSpPr/>
          <p:nvPr/>
        </p:nvSpPr>
        <p:spPr>
          <a:xfrm>
            <a:off x="500063" y="2336006"/>
            <a:ext cx="3714750" cy="471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400">
                <a:solidFill>
                  <a:srgbClr val="273C34"/>
                </a:solidFill>
                <a:latin typeface="Arial"/>
                <a:ea typeface="Arial"/>
                <a:cs typeface="Arial"/>
                <a:sym typeface="Arial"/>
              </a:rPr>
              <a:t>Inner World</a:t>
            </a:r>
            <a:endParaRPr sz="1100"/>
          </a:p>
        </p:txBody>
      </p:sp>
      <p:sp>
        <p:nvSpPr>
          <p:cNvPr id="178" name="Google Shape;178;p28"/>
          <p:cNvSpPr/>
          <p:nvPr/>
        </p:nvSpPr>
        <p:spPr>
          <a:xfrm>
            <a:off x="514350" y="2943225"/>
            <a:ext cx="3714750" cy="500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Shape its internal structure</a:t>
            </a:r>
            <a:endParaRPr sz="1100"/>
          </a:p>
        </p:txBody>
      </p:sp>
      <p:sp>
        <p:nvSpPr>
          <p:cNvPr id="179" name="Google Shape;179;p28"/>
          <p:cNvSpPr/>
          <p:nvPr/>
        </p:nvSpPr>
        <p:spPr>
          <a:xfrm>
            <a:off x="514350" y="3621881"/>
            <a:ext cx="3714750" cy="1000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500">
                <a:solidFill>
                  <a:srgbClr val="6F7E75"/>
                </a:solidFill>
                <a:latin typeface="Arial"/>
                <a:ea typeface="Arial"/>
                <a:cs typeface="Arial"/>
                <a:sym typeface="Arial"/>
              </a:rPr>
              <a:t>Edit directions and strengths</a:t>
            </a:r>
            <a:endParaRPr sz="1100"/>
          </a:p>
          <a:p>
            <a:pPr indent="0" lvl="0" marL="0" marR="0" rtl="0" algn="l">
              <a:spcBef>
                <a:spcPts val="0"/>
              </a:spcBef>
              <a:spcAft>
                <a:spcPts val="0"/>
              </a:spcAft>
              <a:buNone/>
            </a:pPr>
            <a:r>
              <a:rPr b="0" lang="en" sz="1500">
                <a:solidFill>
                  <a:srgbClr val="6F7E75"/>
                </a:solidFill>
                <a:latin typeface="Arial"/>
                <a:ea typeface="Arial"/>
                <a:cs typeface="Arial"/>
                <a:sym typeface="Arial"/>
              </a:rPr>
              <a:t>Create and test custom Steering</a:t>
            </a:r>
            <a:endParaRPr sz="1100"/>
          </a:p>
          <a:p>
            <a:pPr indent="0" lvl="0" marL="0" marR="0" rtl="0" algn="l">
              <a:spcBef>
                <a:spcPts val="0"/>
              </a:spcBef>
              <a:spcAft>
                <a:spcPts val="0"/>
              </a:spcAft>
              <a:buNone/>
            </a:pPr>
            <a:r>
              <a:rPr b="0" lang="en" sz="1500">
                <a:solidFill>
                  <a:srgbClr val="6F7E75"/>
                </a:solidFill>
                <a:latin typeface="Arial"/>
                <a:ea typeface="Arial"/>
                <a:cs typeface="Arial"/>
                <a:sym typeface="Arial"/>
              </a:rPr>
              <a:t>Save, compare, and restore versions</a:t>
            </a:r>
            <a:endParaRPr sz="1100"/>
          </a:p>
        </p:txBody>
      </p:sp>
      <p:sp>
        <p:nvSpPr>
          <p:cNvPr id="180" name="Google Shape;180;p28"/>
          <p:cNvSpPr/>
          <p:nvPr/>
        </p:nvSpPr>
        <p:spPr>
          <a:xfrm>
            <a:off x="4914900" y="2336006"/>
            <a:ext cx="3714750" cy="471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400">
                <a:solidFill>
                  <a:srgbClr val="273C34"/>
                </a:solidFill>
                <a:latin typeface="Arial"/>
                <a:ea typeface="Arial"/>
                <a:cs typeface="Arial"/>
                <a:sym typeface="Arial"/>
              </a:rPr>
              <a:t>Outer World</a:t>
            </a:r>
            <a:endParaRPr sz="1100"/>
          </a:p>
        </p:txBody>
      </p:sp>
      <p:sp>
        <p:nvSpPr>
          <p:cNvPr id="181" name="Google Shape;181;p28"/>
          <p:cNvSpPr/>
          <p:nvPr/>
        </p:nvSpPr>
        <p:spPr>
          <a:xfrm>
            <a:off x="4929188" y="2943225"/>
            <a:ext cx="3714750" cy="500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Keep interacting with one agent</a:t>
            </a:r>
            <a:endParaRPr sz="1100"/>
          </a:p>
        </p:txBody>
      </p:sp>
      <p:sp>
        <p:nvSpPr>
          <p:cNvPr id="182" name="Google Shape;182;p28"/>
          <p:cNvSpPr/>
          <p:nvPr/>
        </p:nvSpPr>
        <p:spPr>
          <a:xfrm>
            <a:off x="4929188" y="3621881"/>
            <a:ext cx="3714750" cy="1000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500">
                <a:solidFill>
                  <a:srgbClr val="6F7E75"/>
                </a:solidFill>
                <a:latin typeface="Arial"/>
                <a:ea typeface="Arial"/>
                <a:cs typeface="Arial"/>
                <a:sym typeface="Arial"/>
              </a:rPr>
              <a:t>Converse and test scenarios</a:t>
            </a:r>
            <a:endParaRPr sz="1100"/>
          </a:p>
          <a:p>
            <a:pPr indent="0" lvl="0" marL="0" marR="0" rtl="0" algn="l">
              <a:spcBef>
                <a:spcPts val="0"/>
              </a:spcBef>
              <a:spcAft>
                <a:spcPts val="0"/>
              </a:spcAft>
              <a:buNone/>
            </a:pPr>
            <a:r>
              <a:rPr b="0" lang="en" sz="1500">
                <a:solidFill>
                  <a:srgbClr val="6F7E75"/>
                </a:solidFill>
                <a:latin typeface="Arial"/>
                <a:ea typeface="Arial"/>
                <a:cs typeface="Arial"/>
                <a:sym typeface="Arial"/>
              </a:rPr>
              <a:t>Observe the effects of internal edits</a:t>
            </a:r>
            <a:endParaRPr sz="1100"/>
          </a:p>
          <a:p>
            <a:pPr indent="0" lvl="0" marL="0" marR="0" rtl="0" algn="l">
              <a:spcBef>
                <a:spcPts val="0"/>
              </a:spcBef>
              <a:spcAft>
                <a:spcPts val="0"/>
              </a:spcAft>
              <a:buNone/>
            </a:pPr>
            <a:r>
              <a:rPr b="0" lang="en" sz="1500">
                <a:solidFill>
                  <a:srgbClr val="6F7E75"/>
                </a:solidFill>
                <a:latin typeface="Arial"/>
                <a:ea typeface="Arial"/>
                <a:cs typeface="Arial"/>
                <a:sym typeface="Arial"/>
              </a:rPr>
              <a:t>Build experiences that can persist</a:t>
            </a:r>
            <a:endParaRPr sz="1100"/>
          </a:p>
        </p:txBody>
      </p:sp>
      <p:pic>
        <p:nvPicPr>
          <p:cNvPr id="183" name="Google Shape;183;p28"/>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188" name="Shape 188"/>
        <p:cNvGrpSpPr/>
        <p:nvPr/>
      </p:nvGrpSpPr>
      <p:grpSpPr>
        <a:xfrm>
          <a:off x="0" y="0"/>
          <a:ext cx="0" cy="0"/>
          <a:chOff x="0" y="0"/>
          <a:chExt cx="0" cy="0"/>
        </a:xfrm>
      </p:grpSpPr>
      <p:sp>
        <p:nvSpPr>
          <p:cNvPr id="189" name="Google Shape;189;p29"/>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10</a:t>
            </a:r>
            <a:endParaRPr sz="1100"/>
          </a:p>
        </p:txBody>
      </p:sp>
      <p:sp>
        <p:nvSpPr>
          <p:cNvPr id="190" name="Google Shape;190;p29"/>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How a digital individual develops</a:t>
            </a:r>
            <a:endParaRPr sz="1100"/>
          </a:p>
        </p:txBody>
      </p:sp>
      <p:sp>
        <p:nvSpPr>
          <p:cNvPr id="191" name="Google Shape;191;p29"/>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Make internal changes inspectable, recoverable, and persistent</a:t>
            </a:r>
            <a:endParaRPr sz="1100"/>
          </a:p>
        </p:txBody>
      </p:sp>
      <p:sp>
        <p:nvSpPr>
          <p:cNvPr id="192" name="Google Shape;192;p29"/>
          <p:cNvSpPr/>
          <p:nvPr/>
        </p:nvSpPr>
        <p:spPr>
          <a:xfrm>
            <a:off x="514350" y="2200275"/>
            <a:ext cx="1943100" cy="3929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01  Create</a:t>
            </a:r>
            <a:endParaRPr sz="1100"/>
          </a:p>
        </p:txBody>
      </p:sp>
      <p:sp>
        <p:nvSpPr>
          <p:cNvPr id="193" name="Google Shape;193;p29"/>
          <p:cNvSpPr/>
          <p:nvPr/>
        </p:nvSpPr>
        <p:spPr>
          <a:xfrm>
            <a:off x="2857500" y="2221706"/>
            <a:ext cx="5664994" cy="5214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Name the agent and save its initial configuration.</a:t>
            </a:r>
            <a:endParaRPr sz="1100"/>
          </a:p>
        </p:txBody>
      </p:sp>
      <p:sp>
        <p:nvSpPr>
          <p:cNvPr id="194" name="Google Shape;194;p29"/>
          <p:cNvSpPr/>
          <p:nvPr/>
        </p:nvSpPr>
        <p:spPr>
          <a:xfrm>
            <a:off x="514350" y="2793206"/>
            <a:ext cx="1943100" cy="3929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02  Interact</a:t>
            </a:r>
            <a:endParaRPr sz="1100"/>
          </a:p>
        </p:txBody>
      </p:sp>
      <p:sp>
        <p:nvSpPr>
          <p:cNvPr id="195" name="Google Shape;195;p29"/>
          <p:cNvSpPr/>
          <p:nvPr/>
        </p:nvSpPr>
        <p:spPr>
          <a:xfrm>
            <a:off x="2857500" y="2814638"/>
            <a:ext cx="5664994" cy="5214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Converse, test scenarios, and observe behavior.</a:t>
            </a:r>
            <a:endParaRPr sz="1100"/>
          </a:p>
        </p:txBody>
      </p:sp>
      <p:sp>
        <p:nvSpPr>
          <p:cNvPr id="196" name="Google Shape;196;p29"/>
          <p:cNvSpPr/>
          <p:nvPr/>
        </p:nvSpPr>
        <p:spPr>
          <a:xfrm>
            <a:off x="514350" y="3386138"/>
            <a:ext cx="1943100" cy="3929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03  Validate</a:t>
            </a:r>
            <a:endParaRPr sz="1100"/>
          </a:p>
        </p:txBody>
      </p:sp>
      <p:sp>
        <p:nvSpPr>
          <p:cNvPr id="197" name="Google Shape;197;p29"/>
          <p:cNvSpPr/>
          <p:nvPr/>
        </p:nvSpPr>
        <p:spPr>
          <a:xfrm>
            <a:off x="2857500" y="3407569"/>
            <a:ext cx="5664994" cy="5214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Evaluate new directions and effects on other abilities.</a:t>
            </a:r>
            <a:endParaRPr sz="1100"/>
          </a:p>
        </p:txBody>
      </p:sp>
      <p:sp>
        <p:nvSpPr>
          <p:cNvPr id="198" name="Google Shape;198;p29"/>
          <p:cNvSpPr/>
          <p:nvPr/>
        </p:nvSpPr>
        <p:spPr>
          <a:xfrm>
            <a:off x="514350" y="3979069"/>
            <a:ext cx="1943100" cy="3929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86A42"/>
                </a:solidFill>
                <a:latin typeface="Arial"/>
                <a:ea typeface="Arial"/>
                <a:cs typeface="Arial"/>
                <a:sym typeface="Arial"/>
              </a:rPr>
              <a:t>04  Grow</a:t>
            </a:r>
            <a:endParaRPr sz="1100"/>
          </a:p>
        </p:txBody>
      </p:sp>
      <p:sp>
        <p:nvSpPr>
          <p:cNvPr id="199" name="Google Shape;199;p29"/>
          <p:cNvSpPr/>
          <p:nvPr/>
        </p:nvSpPr>
        <p:spPr>
          <a:xfrm>
            <a:off x="2857500" y="4000500"/>
            <a:ext cx="5664994" cy="5214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Enable a new version with provenance and rollback.</a:t>
            </a:r>
            <a:endParaRPr sz="1100"/>
          </a:p>
        </p:txBody>
      </p:sp>
      <p:pic>
        <p:nvPicPr>
          <p:cNvPr id="200" name="Google Shape;200;p29"/>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205" name="Shape 205"/>
        <p:cNvGrpSpPr/>
        <p:nvPr/>
      </p:nvGrpSpPr>
      <p:grpSpPr>
        <a:xfrm>
          <a:off x="0" y="0"/>
          <a:ext cx="0" cy="0"/>
          <a:chOff x="0" y="0"/>
          <a:chExt cx="0" cy="0"/>
        </a:xfrm>
      </p:grpSpPr>
      <p:sp>
        <p:nvSpPr>
          <p:cNvPr id="206" name="Google Shape;206;p30"/>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11</a:t>
            </a:r>
            <a:endParaRPr sz="1100"/>
          </a:p>
        </p:txBody>
      </p:sp>
      <p:sp>
        <p:nvSpPr>
          <p:cNvPr id="207" name="Google Shape;207;p30"/>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Digital life as an engineering goal</a:t>
            </a:r>
            <a:endParaRPr sz="1100"/>
          </a:p>
        </p:txBody>
      </p:sp>
      <p:graphicFrame>
        <p:nvGraphicFramePr>
          <p:cNvPr id="208" name="Google Shape;208;p30"/>
          <p:cNvGraphicFramePr/>
          <p:nvPr/>
        </p:nvGraphicFramePr>
        <p:xfrm>
          <a:off x="471488" y="1728788"/>
          <a:ext cx="3000000" cy="3000000"/>
        </p:xfrm>
        <a:graphic>
          <a:graphicData uri="http://schemas.openxmlformats.org/drawingml/2006/table">
            <a:tbl>
              <a:tblPr>
                <a:noFill/>
                <a:tableStyleId>{D0CA1BF0-0B7C-4AC3-93AB-0C1121D43C40}</a:tableStyleId>
              </a:tblPr>
              <a:tblGrid>
                <a:gridCol w="2500300"/>
                <a:gridCol w="5700700"/>
              </a:tblGrid>
              <a:tr h="500050">
                <a:tc>
                  <a:txBody>
                    <a:bodyPr/>
                    <a:lstStyle/>
                    <a:p>
                      <a:pPr indent="0" lvl="0" marL="0" marR="0" rtl="0" algn="l">
                        <a:spcBef>
                          <a:spcPts val="0"/>
                        </a:spcBef>
                        <a:spcAft>
                          <a:spcPts val="0"/>
                        </a:spcAft>
                        <a:buClr>
                          <a:srgbClr val="F7F6F0"/>
                        </a:buClr>
                        <a:buSzPts val="1300"/>
                        <a:buFont typeface="Arial"/>
                        <a:buNone/>
                      </a:pPr>
                      <a:r>
                        <a:rPr b="1" lang="en" sz="1300">
                          <a:solidFill>
                            <a:srgbClr val="F7F6F0"/>
                          </a:solidFill>
                          <a:latin typeface="Arial"/>
                          <a:ea typeface="Arial"/>
                          <a:cs typeface="Arial"/>
                          <a:sym typeface="Arial"/>
                        </a:rPr>
                        <a:t>Capability</a:t>
                      </a:r>
                      <a:endParaRPr sz="1100"/>
                    </a:p>
                  </a:txBody>
                  <a:tcPr marT="34300" marB="34300" marR="68600" marL="68600" anchor="ctr">
                    <a:lnL cap="flat" cmpd="sng" w="9525">
                      <a:solidFill>
                        <a:srgbClr val="D4DAD2"/>
                      </a:solidFill>
                      <a:prstDash val="solid"/>
                      <a:round/>
                      <a:headEnd len="sm" w="sm" type="none"/>
                      <a:tailEnd len="sm" w="sm" type="none"/>
                    </a:lnL>
                    <a:lnT cap="flat" cmpd="sng" w="9525">
                      <a:solidFill>
                        <a:srgbClr val="D4DAD2"/>
                      </a:solidFill>
                      <a:prstDash val="solid"/>
                      <a:round/>
                      <a:headEnd len="sm" w="sm" type="none"/>
                      <a:tailEnd len="sm" w="sm" type="none"/>
                    </a:lnT>
                    <a:solidFill>
                      <a:srgbClr val="273C34"/>
                    </a:solidFill>
                  </a:tcPr>
                </a:tc>
                <a:tc>
                  <a:txBody>
                    <a:bodyPr/>
                    <a:lstStyle/>
                    <a:p>
                      <a:pPr indent="0" lvl="0" marL="0" marR="0" rtl="0" algn="l">
                        <a:spcBef>
                          <a:spcPts val="0"/>
                        </a:spcBef>
                        <a:spcAft>
                          <a:spcPts val="0"/>
                        </a:spcAft>
                        <a:buClr>
                          <a:srgbClr val="F7F6F0"/>
                        </a:buClr>
                        <a:buSzPts val="1300"/>
                        <a:buFont typeface="Arial"/>
                        <a:buNone/>
                      </a:pPr>
                      <a:r>
                        <a:rPr b="1" lang="en" sz="1300">
                          <a:solidFill>
                            <a:srgbClr val="F7F6F0"/>
                          </a:solidFill>
                          <a:latin typeface="Arial"/>
                          <a:ea typeface="Arial"/>
                          <a:cs typeface="Arial"/>
                          <a:sym typeface="Arial"/>
                        </a:rPr>
                        <a:t>Testable change</a:t>
                      </a:r>
                      <a:endParaRPr sz="1100"/>
                    </a:p>
                  </a:txBody>
                  <a:tcPr marT="34300" marB="34300" marR="68600" marL="68600" anchor="ctr">
                    <a:lnR cap="flat" cmpd="sng" w="9525">
                      <a:solidFill>
                        <a:srgbClr val="D4DAD2"/>
                      </a:solidFill>
                      <a:prstDash val="solid"/>
                      <a:round/>
                      <a:headEnd len="sm" w="sm" type="none"/>
                      <a:tailEnd len="sm" w="sm" type="none"/>
                    </a:lnR>
                    <a:lnT cap="flat" cmpd="sng" w="9525">
                      <a:solidFill>
                        <a:srgbClr val="D4DAD2"/>
                      </a:solidFill>
                      <a:prstDash val="solid"/>
                      <a:round/>
                      <a:headEnd len="sm" w="sm" type="none"/>
                      <a:tailEnd len="sm" w="sm" type="none"/>
                    </a:lnT>
                    <a:solidFill>
                      <a:srgbClr val="273C34"/>
                    </a:solidFill>
                  </a:tcPr>
                </a:tc>
              </a:tr>
              <a:tr h="500050">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Persistent identity</a:t>
                      </a:r>
                      <a:endParaRPr sz="1100"/>
                    </a:p>
                  </a:txBody>
                  <a:tcPr marT="34300" marB="34300" marR="68600" marL="68600" anchor="ctr">
                    <a:lnL cap="flat" cmpd="sng" w="9525">
                      <a:solidFill>
                        <a:srgbClr val="D4DAD2"/>
                      </a:solidFill>
                      <a:prstDash val="solid"/>
                      <a:round/>
                      <a:headEnd len="sm" w="sm" type="none"/>
                      <a:tailEnd len="sm" w="sm" type="none"/>
                    </a:lnL>
                    <a:solidFill>
                      <a:srgbClr val="F6F5F1"/>
                    </a:solidFill>
                  </a:tcPr>
                </a:tc>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Recognizable behavior across sessions</a:t>
                      </a:r>
                      <a:endParaRPr sz="1100"/>
                    </a:p>
                  </a:txBody>
                  <a:tcPr marT="34300" marB="34300" marR="68600" marL="68600" anchor="ctr">
                    <a:lnR cap="flat" cmpd="sng" w="9525">
                      <a:solidFill>
                        <a:srgbClr val="D4DAD2"/>
                      </a:solidFill>
                      <a:prstDash val="solid"/>
                      <a:round/>
                      <a:headEnd len="sm" w="sm" type="none"/>
                      <a:tailEnd len="sm" w="sm" type="none"/>
                    </a:lnR>
                    <a:solidFill>
                      <a:srgbClr val="F6F5F1"/>
                    </a:solidFill>
                  </a:tcPr>
                </a:tc>
              </a:tr>
              <a:tr h="500050">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Shapeable inner structure</a:t>
                      </a:r>
                      <a:endParaRPr sz="1100"/>
                    </a:p>
                  </a:txBody>
                  <a:tcPr marT="34300" marB="34300" marR="68600" marL="68600" anchor="ctr">
                    <a:lnL cap="flat" cmpd="sng" w="9525">
                      <a:solidFill>
                        <a:srgbClr val="D4DAD2"/>
                      </a:solidFill>
                      <a:prstDash val="solid"/>
                      <a:round/>
                      <a:headEnd len="sm" w="sm" type="none"/>
                      <a:tailEnd len="sm" w="sm" type="none"/>
                    </a:lnL>
                    <a:solidFill>
                      <a:srgbClr val="F6F5F1"/>
                    </a:solidFill>
                  </a:tcPr>
                </a:tc>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A targeted concept change reliably affects behavior</a:t>
                      </a:r>
                      <a:endParaRPr sz="1100"/>
                    </a:p>
                  </a:txBody>
                  <a:tcPr marT="34300" marB="34300" marR="68600" marL="68600" anchor="ctr">
                    <a:lnR cap="flat" cmpd="sng" w="9525">
                      <a:solidFill>
                        <a:srgbClr val="D4DAD2"/>
                      </a:solidFill>
                      <a:prstDash val="solid"/>
                      <a:round/>
                      <a:headEnd len="sm" w="sm" type="none"/>
                      <a:tailEnd len="sm" w="sm" type="none"/>
                    </a:lnR>
                    <a:solidFill>
                      <a:srgbClr val="F6F5F1"/>
                    </a:solidFill>
                  </a:tcPr>
                </a:tc>
              </a:tr>
              <a:tr h="500050">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Accumulated experience</a:t>
                      </a:r>
                      <a:endParaRPr sz="1100"/>
                    </a:p>
                  </a:txBody>
                  <a:tcPr marT="34300" marB="34300" marR="68600" marL="68600" anchor="ctr">
                    <a:lnL cap="flat" cmpd="sng" w="9525">
                      <a:solidFill>
                        <a:srgbClr val="D4DAD2"/>
                      </a:solidFill>
                      <a:prstDash val="solid"/>
                      <a:round/>
                      <a:headEnd len="sm" w="sm" type="none"/>
                      <a:tailEnd len="sm" w="sm" type="none"/>
                    </a:lnL>
                    <a:solidFill>
                      <a:srgbClr val="F6F5F1"/>
                    </a:solidFill>
                  </a:tcPr>
                </a:tc>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Stored experiences have inspectable later effects</a:t>
                      </a:r>
                      <a:endParaRPr sz="1100"/>
                    </a:p>
                  </a:txBody>
                  <a:tcPr marT="34300" marB="34300" marR="68600" marL="68600" anchor="ctr">
                    <a:lnR cap="flat" cmpd="sng" w="9525">
                      <a:solidFill>
                        <a:srgbClr val="D4DAD2"/>
                      </a:solidFill>
                      <a:prstDash val="solid"/>
                      <a:round/>
                      <a:headEnd len="sm" w="sm" type="none"/>
                      <a:tailEnd len="sm" w="sm" type="none"/>
                    </a:lnR>
                    <a:solidFill>
                      <a:srgbClr val="F6F5F1"/>
                    </a:solidFill>
                  </a:tcPr>
                </a:tc>
              </a:tr>
              <a:tr h="500050">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Bounded growth</a:t>
                      </a:r>
                      <a:endParaRPr sz="1100"/>
                    </a:p>
                  </a:txBody>
                  <a:tcPr marT="34300" marB="34300" marR="68600" marL="68600" anchor="ctr">
                    <a:lnL cap="flat" cmpd="sng" w="9525">
                      <a:solidFill>
                        <a:srgbClr val="D4DAD2"/>
                      </a:solidFill>
                      <a:prstDash val="solid"/>
                      <a:round/>
                      <a:headEnd len="sm" w="sm" type="none"/>
                      <a:tailEnd len="sm" w="sm" type="none"/>
                    </a:lnL>
                    <a:lnB cap="flat" cmpd="sng" w="9525">
                      <a:solidFill>
                        <a:srgbClr val="D4DAD2"/>
                      </a:solidFill>
                      <a:prstDash val="solid"/>
                      <a:round/>
                      <a:headEnd len="sm" w="sm" type="none"/>
                      <a:tailEnd len="sm" w="sm" type="none"/>
                    </a:lnB>
                    <a:solidFill>
                      <a:srgbClr val="F6F5F1"/>
                    </a:solidFill>
                  </a:tcPr>
                </a:tc>
                <a:tc>
                  <a:txBody>
                    <a:bodyPr/>
                    <a:lstStyle/>
                    <a:p>
                      <a:pPr indent="0" lvl="0" marL="0" marR="0" rtl="0" algn="l">
                        <a:spcBef>
                          <a:spcPts val="0"/>
                        </a:spcBef>
                        <a:spcAft>
                          <a:spcPts val="0"/>
                        </a:spcAft>
                        <a:buClr>
                          <a:srgbClr val="273C34"/>
                        </a:buClr>
                        <a:buSzPts val="1300"/>
                        <a:buFont typeface="Arial"/>
                        <a:buNone/>
                      </a:pPr>
                      <a:r>
                        <a:rPr b="0" lang="en" sz="1300">
                          <a:solidFill>
                            <a:srgbClr val="273C34"/>
                          </a:solidFill>
                          <a:latin typeface="Arial"/>
                          <a:ea typeface="Arial"/>
                          <a:cs typeface="Arial"/>
                          <a:sym typeface="Arial"/>
                        </a:rPr>
                        <a:t>Validated updates within permissions, with rollback</a:t>
                      </a:r>
                      <a:endParaRPr sz="1100"/>
                    </a:p>
                  </a:txBody>
                  <a:tcPr marT="34300" marB="34300" marR="68600" marL="68600" anchor="ctr">
                    <a:lnR cap="flat" cmpd="sng" w="9525">
                      <a:solidFill>
                        <a:srgbClr val="D4DAD2"/>
                      </a:solidFill>
                      <a:prstDash val="solid"/>
                      <a:round/>
                      <a:headEnd len="sm" w="sm" type="none"/>
                      <a:tailEnd len="sm" w="sm" type="none"/>
                    </a:lnR>
                    <a:lnB cap="flat" cmpd="sng" w="9525">
                      <a:solidFill>
                        <a:srgbClr val="D4DAD2"/>
                      </a:solidFill>
                      <a:prstDash val="solid"/>
                      <a:round/>
                      <a:headEnd len="sm" w="sm" type="none"/>
                      <a:tailEnd len="sm" w="sm" type="none"/>
                    </a:lnB>
                    <a:solidFill>
                      <a:srgbClr val="F6F5F1"/>
                    </a:solidFill>
                  </a:tcPr>
                </a:tc>
              </a:tr>
            </a:tbl>
          </a:graphicData>
        </a:graphic>
      </p:graphicFrame>
      <p:sp>
        <p:nvSpPr>
          <p:cNvPr id="209" name="Google Shape;209;p30"/>
          <p:cNvSpPr/>
          <p:nvPr/>
        </p:nvSpPr>
        <p:spPr>
          <a:xfrm>
            <a:off x="514350" y="4471988"/>
            <a:ext cx="8001000" cy="3571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300">
                <a:solidFill>
                  <a:srgbClr val="6F7E75"/>
                </a:solidFill>
                <a:latin typeface="Arial"/>
                <a:ea typeface="Arial"/>
                <a:cs typeface="Arial"/>
                <a:sym typeface="Arial"/>
              </a:rPr>
              <a:t>Long-term research goals, without a claim of consciousness or subjective experience</a:t>
            </a:r>
            <a:endParaRPr sz="1100"/>
          </a:p>
        </p:txBody>
      </p:sp>
      <p:pic>
        <p:nvPicPr>
          <p:cNvPr id="210" name="Google Shape;210;p30"/>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215" name="Shape 215"/>
        <p:cNvGrpSpPr/>
        <p:nvPr/>
      </p:nvGrpSpPr>
      <p:grpSpPr>
        <a:xfrm>
          <a:off x="0" y="0"/>
          <a:ext cx="0" cy="0"/>
          <a:chOff x="0" y="0"/>
          <a:chExt cx="0" cy="0"/>
        </a:xfrm>
      </p:grpSpPr>
      <p:sp>
        <p:nvSpPr>
          <p:cNvPr id="216" name="Google Shape;216;p31"/>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12</a:t>
            </a:r>
            <a:endParaRPr sz="1100"/>
          </a:p>
        </p:txBody>
      </p:sp>
      <p:sp>
        <p:nvSpPr>
          <p:cNvPr id="217" name="Google Shape;217;p31"/>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What IOTA accumulates over time</a:t>
            </a:r>
            <a:endParaRPr sz="1100"/>
          </a:p>
        </p:txBody>
      </p:sp>
      <p:sp>
        <p:nvSpPr>
          <p:cNvPr id="218" name="Google Shape;218;p31"/>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Directions and control experience gain reusable value through validation</a:t>
            </a:r>
            <a:endParaRPr sz="1100"/>
          </a:p>
        </p:txBody>
      </p:sp>
      <p:sp>
        <p:nvSpPr>
          <p:cNvPr id="219" name="Google Shape;219;p31"/>
          <p:cNvSpPr/>
          <p:nvPr/>
        </p:nvSpPr>
        <p:spPr>
          <a:xfrm>
            <a:off x="514350" y="2293144"/>
            <a:ext cx="37147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000">
                <a:solidFill>
                  <a:srgbClr val="B86A42"/>
                </a:solidFill>
                <a:latin typeface="Arial"/>
                <a:ea typeface="Arial"/>
                <a:cs typeface="Arial"/>
                <a:sym typeface="Arial"/>
              </a:rPr>
              <a:t>Navigator contributes</a:t>
            </a:r>
            <a:endParaRPr sz="1100"/>
          </a:p>
        </p:txBody>
      </p:sp>
      <p:sp>
        <p:nvSpPr>
          <p:cNvPr id="220" name="Google Shape;220;p31"/>
          <p:cNvSpPr/>
          <p:nvPr/>
        </p:nvSpPr>
        <p:spPr>
          <a:xfrm>
            <a:off x="528638" y="2921794"/>
            <a:ext cx="371475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Input-to-direction utility data</a:t>
            </a:r>
            <a:endParaRPr sz="1100"/>
          </a:p>
          <a:p>
            <a:pPr indent="0" lvl="0" marL="0" marR="0" rtl="0" algn="l">
              <a:spcBef>
                <a:spcPts val="0"/>
              </a:spcBef>
              <a:spcAft>
                <a:spcPts val="0"/>
              </a:spcAft>
              <a:buNone/>
            </a:pPr>
            <a:r>
              <a:rPr b="0" lang="en" sz="1600">
                <a:solidFill>
                  <a:srgbClr val="273C34"/>
                </a:solidFill>
                <a:latin typeface="Arial"/>
                <a:ea typeface="Arial"/>
                <a:cs typeface="Arial"/>
                <a:sym typeface="Arial"/>
              </a:rPr>
              <a:t>Task benefits, costs, and side effects</a:t>
            </a:r>
            <a:endParaRPr sz="1100"/>
          </a:p>
        </p:txBody>
      </p:sp>
      <p:sp>
        <p:nvSpPr>
          <p:cNvPr id="221" name="Google Shape;221;p31"/>
          <p:cNvSpPr/>
          <p:nvPr/>
        </p:nvSpPr>
        <p:spPr>
          <a:xfrm>
            <a:off x="4914900" y="2293144"/>
            <a:ext cx="37147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000">
                <a:solidFill>
                  <a:srgbClr val="B86A42"/>
                </a:solidFill>
                <a:latin typeface="Arial"/>
                <a:ea typeface="Arial"/>
                <a:cs typeface="Arial"/>
                <a:sym typeface="Arial"/>
              </a:rPr>
              <a:t>Search contributes</a:t>
            </a:r>
            <a:endParaRPr sz="1100"/>
          </a:p>
        </p:txBody>
      </p:sp>
      <p:sp>
        <p:nvSpPr>
          <p:cNvPr id="222" name="Google Shape;222;p31"/>
          <p:cNvSpPr/>
          <p:nvPr/>
        </p:nvSpPr>
        <p:spPr>
          <a:xfrm>
            <a:off x="4929188" y="2921794"/>
            <a:ext cx="371475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Individual contexts and expansion needs</a:t>
            </a:r>
            <a:endParaRPr sz="1100"/>
          </a:p>
          <a:p>
            <a:pPr indent="0" lvl="0" marL="0" marR="0" rtl="0" algn="l">
              <a:spcBef>
                <a:spcPts val="0"/>
              </a:spcBef>
              <a:spcAft>
                <a:spcPts val="0"/>
              </a:spcAft>
              <a:buNone/>
            </a:pPr>
            <a:r>
              <a:rPr b="0" lang="en" sz="1600">
                <a:solidFill>
                  <a:srgbClr val="273C34"/>
                </a:solidFill>
                <a:latin typeface="Arial"/>
                <a:ea typeface="Arial"/>
                <a:cs typeface="Arial"/>
                <a:sym typeface="Arial"/>
              </a:rPr>
              <a:t>New directions and behavioral feedback</a:t>
            </a:r>
            <a:endParaRPr sz="1100"/>
          </a:p>
        </p:txBody>
      </p:sp>
      <p:sp>
        <p:nvSpPr>
          <p:cNvPr id="223" name="Google Shape;223;p31"/>
          <p:cNvSpPr/>
          <p:nvPr/>
        </p:nvSpPr>
        <p:spPr>
          <a:xfrm>
            <a:off x="528638" y="4321969"/>
            <a:ext cx="8001000" cy="4643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Shared assets: evaluated Geometry and versioned individual configurations</a:t>
            </a:r>
            <a:endParaRPr sz="1100"/>
          </a:p>
        </p:txBody>
      </p:sp>
      <p:pic>
        <p:nvPicPr>
          <p:cNvPr id="224" name="Google Shape;224;p31"/>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229" name="Shape 229"/>
        <p:cNvGrpSpPr/>
        <p:nvPr/>
      </p:nvGrpSpPr>
      <p:grpSpPr>
        <a:xfrm>
          <a:off x="0" y="0"/>
          <a:ext cx="0" cy="0"/>
          <a:chOff x="0" y="0"/>
          <a:chExt cx="0" cy="0"/>
        </a:xfrm>
      </p:grpSpPr>
      <p:sp>
        <p:nvSpPr>
          <p:cNvPr id="230" name="Google Shape;230;p32"/>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13</a:t>
            </a:r>
            <a:endParaRPr sz="1100"/>
          </a:p>
        </p:txBody>
      </p:sp>
      <p:sp>
        <p:nvSpPr>
          <p:cNvPr id="231" name="Google Shape;231;p32"/>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The first commercial step</a:t>
            </a:r>
            <a:endParaRPr sz="1100"/>
          </a:p>
        </p:txBody>
      </p:sp>
      <p:sp>
        <p:nvSpPr>
          <p:cNvPr id="232" name="Google Shape;232;p32"/>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Find early users willing to validate the product on a real task</a:t>
            </a:r>
            <a:endParaRPr sz="1100"/>
          </a:p>
        </p:txBody>
      </p:sp>
      <p:sp>
        <p:nvSpPr>
          <p:cNvPr id="233" name="Google Shape;233;p32"/>
          <p:cNvSpPr/>
          <p:nvPr/>
        </p:nvSpPr>
        <p:spPr>
          <a:xfrm>
            <a:off x="514350" y="2314575"/>
            <a:ext cx="3929063" cy="4143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000">
                <a:solidFill>
                  <a:srgbClr val="B86A42"/>
                </a:solidFill>
                <a:latin typeface="Arial"/>
                <a:ea typeface="Arial"/>
                <a:cs typeface="Arial"/>
                <a:sym typeface="Arial"/>
              </a:rPr>
              <a:t>Navigator: early users</a:t>
            </a:r>
            <a:endParaRPr sz="1100"/>
          </a:p>
        </p:txBody>
      </p:sp>
      <p:sp>
        <p:nvSpPr>
          <p:cNvPr id="234" name="Google Shape;234;p32"/>
          <p:cNvSpPr/>
          <p:nvPr/>
        </p:nvSpPr>
        <p:spPr>
          <a:xfrm>
            <a:off x="514350" y="2936081"/>
            <a:ext cx="3929063" cy="6786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Model researchers and agent developers</a:t>
            </a:r>
            <a:endParaRPr sz="1100"/>
          </a:p>
        </p:txBody>
      </p:sp>
      <p:sp>
        <p:nvSpPr>
          <p:cNvPr id="235" name="Google Shape;235;p32"/>
          <p:cNvSpPr/>
          <p:nvPr/>
        </p:nvSpPr>
        <p:spPr>
          <a:xfrm>
            <a:off x="514350" y="3786188"/>
            <a:ext cx="3786187" cy="78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6F7E75"/>
                </a:solidFill>
                <a:latin typeface="Arial"/>
                <a:ea typeface="Arial"/>
                <a:cs typeface="Arial"/>
                <a:sym typeface="Arial"/>
              </a:rPr>
              <a:t>Validate gains on a real task.</a:t>
            </a:r>
            <a:endParaRPr sz="1100"/>
          </a:p>
          <a:p>
            <a:pPr indent="0" lvl="0" marL="0" marR="0" rtl="0" algn="l">
              <a:spcBef>
                <a:spcPts val="0"/>
              </a:spcBef>
              <a:spcAft>
                <a:spcPts val="0"/>
              </a:spcAft>
              <a:buNone/>
            </a:pPr>
            <a:r>
              <a:rPr b="0" lang="en" sz="1600">
                <a:solidFill>
                  <a:srgbClr val="6F7E75"/>
                </a:solidFill>
                <a:latin typeface="Arial"/>
                <a:ea typeface="Arial"/>
                <a:cs typeface="Arial"/>
                <a:sym typeface="Arial"/>
              </a:rPr>
              <a:t>Explore evaluation tools and control APIs.</a:t>
            </a:r>
            <a:endParaRPr sz="1100"/>
          </a:p>
        </p:txBody>
      </p:sp>
      <p:sp>
        <p:nvSpPr>
          <p:cNvPr id="236" name="Google Shape;236;p32"/>
          <p:cNvSpPr/>
          <p:nvPr/>
        </p:nvSpPr>
        <p:spPr>
          <a:xfrm>
            <a:off x="4929188" y="2314575"/>
            <a:ext cx="3714750" cy="4143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000">
                <a:solidFill>
                  <a:srgbClr val="B86A42"/>
                </a:solidFill>
                <a:latin typeface="Arial"/>
                <a:ea typeface="Arial"/>
                <a:cs typeface="Arial"/>
                <a:sym typeface="Arial"/>
              </a:rPr>
              <a:t>Search: early users</a:t>
            </a:r>
            <a:endParaRPr sz="1100"/>
          </a:p>
        </p:txBody>
      </p:sp>
      <p:sp>
        <p:nvSpPr>
          <p:cNvPr id="237" name="Google Shape;237;p32"/>
          <p:cNvSpPr/>
          <p:nvPr/>
        </p:nvSpPr>
        <p:spPr>
          <a:xfrm>
            <a:off x="4929188" y="2936081"/>
            <a:ext cx="3714750" cy="6786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Creators and teams building</a:t>
            </a:r>
            <a:endParaRPr sz="1100"/>
          </a:p>
          <a:p>
            <a:pPr indent="0" lvl="0" marL="0" marR="0" rtl="0" algn="l">
              <a:spcBef>
                <a:spcPts val="0"/>
              </a:spcBef>
              <a:spcAft>
                <a:spcPts val="0"/>
              </a:spcAft>
              <a:buNone/>
            </a:pPr>
            <a:r>
              <a:rPr b="0" lang="en" sz="1600">
                <a:solidFill>
                  <a:srgbClr val="273C34"/>
                </a:solidFill>
                <a:latin typeface="Arial"/>
                <a:ea typeface="Arial"/>
                <a:cs typeface="Arial"/>
                <a:sym typeface="Arial"/>
              </a:rPr>
              <a:t>persistent digital characters</a:t>
            </a:r>
            <a:endParaRPr sz="1100"/>
          </a:p>
        </p:txBody>
      </p:sp>
      <p:sp>
        <p:nvSpPr>
          <p:cNvPr id="238" name="Google Shape;238;p32"/>
          <p:cNvSpPr/>
          <p:nvPr/>
        </p:nvSpPr>
        <p:spPr>
          <a:xfrm>
            <a:off x="4929188" y="3786188"/>
            <a:ext cx="3714750" cy="78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6F7E75"/>
                </a:solidFill>
                <a:latin typeface="Arial"/>
                <a:ea typeface="Arial"/>
                <a:cs typeface="Arial"/>
                <a:sym typeface="Arial"/>
              </a:rPr>
              <a:t>Test demand for shaping one individual.</a:t>
            </a:r>
            <a:endParaRPr sz="1100"/>
          </a:p>
          <a:p>
            <a:pPr indent="0" lvl="0" marL="0" marR="0" rtl="0" algn="l">
              <a:spcBef>
                <a:spcPts val="0"/>
              </a:spcBef>
              <a:spcAft>
                <a:spcPts val="0"/>
              </a:spcAft>
              <a:buNone/>
            </a:pPr>
            <a:r>
              <a:rPr b="0" lang="en" sz="1600">
                <a:solidFill>
                  <a:srgbClr val="6F7E75"/>
                </a:solidFill>
                <a:latin typeface="Arial"/>
                <a:ea typeface="Arial"/>
                <a:cs typeface="Arial"/>
                <a:sym typeface="Arial"/>
              </a:rPr>
              <a:t>Explore editing and conversation workflows.</a:t>
            </a:r>
            <a:endParaRPr sz="1100"/>
          </a:p>
        </p:txBody>
      </p:sp>
      <p:pic>
        <p:nvPicPr>
          <p:cNvPr id="239" name="Google Shape;239;p32"/>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244" name="Shape 244"/>
        <p:cNvGrpSpPr/>
        <p:nvPr/>
      </p:nvGrpSpPr>
      <p:grpSpPr>
        <a:xfrm>
          <a:off x="0" y="0"/>
          <a:ext cx="0" cy="0"/>
          <a:chOff x="0" y="0"/>
          <a:chExt cx="0" cy="0"/>
        </a:xfrm>
      </p:grpSpPr>
      <p:sp>
        <p:nvSpPr>
          <p:cNvPr id="245" name="Google Shape;245;p33"/>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14</a:t>
            </a:r>
            <a:endParaRPr sz="1100"/>
          </a:p>
        </p:txBody>
      </p:sp>
      <p:sp>
        <p:nvSpPr>
          <p:cNvPr id="246" name="Google Shape;246;p33"/>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Search: the inner editing interface</a:t>
            </a:r>
            <a:endParaRPr sz="1100"/>
          </a:p>
        </p:txBody>
      </p:sp>
      <p:sp>
        <p:nvSpPr>
          <p:cNvPr id="247" name="Google Shape;247;p33"/>
          <p:cNvSpPr/>
          <p:nvPr/>
        </p:nvSpPr>
        <p:spPr>
          <a:xfrm>
            <a:off x="500063" y="1943100"/>
            <a:ext cx="3429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200">
                <a:solidFill>
                  <a:srgbClr val="B86A42"/>
                </a:solidFill>
                <a:latin typeface="Arial"/>
                <a:ea typeface="Arial"/>
                <a:cs typeface="Arial"/>
                <a:sym typeface="Arial"/>
              </a:rPr>
              <a:t>Shape Inner World</a:t>
            </a:r>
            <a:endParaRPr sz="1100"/>
          </a:p>
        </p:txBody>
      </p:sp>
      <p:sp>
        <p:nvSpPr>
          <p:cNvPr id="248" name="Google Shape;248;p33"/>
          <p:cNvSpPr/>
          <p:nvPr/>
        </p:nvSpPr>
        <p:spPr>
          <a:xfrm>
            <a:off x="514350" y="2714625"/>
            <a:ext cx="3429000" cy="10715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Name an agent and compose</a:t>
            </a:r>
            <a:endParaRPr sz="1100"/>
          </a:p>
          <a:p>
            <a:pPr indent="0" lvl="0" marL="0" marR="0" rtl="0" algn="l">
              <a:spcBef>
                <a:spcPts val="0"/>
              </a:spcBef>
              <a:spcAft>
                <a:spcPts val="0"/>
              </a:spcAft>
              <a:buNone/>
            </a:pPr>
            <a:r>
              <a:rPr b="0" lang="en" sz="1600">
                <a:solidFill>
                  <a:srgbClr val="273C34"/>
                </a:solidFill>
                <a:latin typeface="Arial"/>
                <a:ea typeface="Arial"/>
                <a:cs typeface="Arial"/>
                <a:sym typeface="Arial"/>
              </a:rPr>
              <a:t>directions and strengths.</a:t>
            </a:r>
            <a:endParaRPr sz="1100"/>
          </a:p>
          <a:p>
            <a:pPr indent="0" lvl="0" marL="0" marR="0" rtl="0" algn="l">
              <a:spcBef>
                <a:spcPts val="0"/>
              </a:spcBef>
              <a:spcAft>
                <a:spcPts val="0"/>
              </a:spcAft>
              <a:buNone/>
            </a:pPr>
            <a:r>
              <a:rPr b="0" lang="en" sz="1600">
                <a:solidFill>
                  <a:srgbClr val="273C34"/>
                </a:solidFill>
                <a:latin typeface="Arial"/>
                <a:ea typeface="Arial"/>
                <a:cs typeface="Arial"/>
                <a:sym typeface="Arial"/>
              </a:rPr>
              <a:t>Custom Steering and save controls.</a:t>
            </a:r>
            <a:endParaRPr sz="1100"/>
          </a:p>
        </p:txBody>
      </p:sp>
      <p:sp>
        <p:nvSpPr>
          <p:cNvPr id="249" name="Google Shape;249;p33"/>
          <p:cNvSpPr/>
          <p:nvPr/>
        </p:nvSpPr>
        <p:spPr>
          <a:xfrm>
            <a:off x="514350" y="4043363"/>
            <a:ext cx="3429000" cy="7500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300">
                <a:solidFill>
                  <a:srgbClr val="6F7E75"/>
                </a:solidFill>
                <a:latin typeface="Arial"/>
                <a:ea typeface="Arial"/>
                <a:cs typeface="Arial"/>
                <a:sym typeface="Arial"/>
              </a:rPr>
              <a:t>The interface exists.</a:t>
            </a:r>
            <a:endParaRPr sz="1100"/>
          </a:p>
          <a:p>
            <a:pPr indent="0" lvl="0" marL="0" marR="0" rtl="0" algn="l">
              <a:spcBef>
                <a:spcPts val="0"/>
              </a:spcBef>
              <a:spcAft>
                <a:spcPts val="0"/>
              </a:spcAft>
              <a:buNone/>
            </a:pPr>
            <a:r>
              <a:rPr b="0" lang="en" sz="1300">
                <a:solidFill>
                  <a:srgbClr val="6F7E75"/>
                </a:solidFill>
                <a:latin typeface="Arial"/>
                <a:ea typeface="Arial"/>
                <a:cs typeface="Arial"/>
                <a:sym typeface="Arial"/>
              </a:rPr>
              <a:t>Model effects still require validation.</a:t>
            </a:r>
            <a:endParaRPr sz="1100"/>
          </a:p>
          <a:p>
            <a:pPr indent="0" lvl="0" marL="0" marR="0" rtl="0" algn="l">
              <a:spcBef>
                <a:spcPts val="0"/>
              </a:spcBef>
              <a:spcAft>
                <a:spcPts val="0"/>
              </a:spcAft>
              <a:buNone/>
            </a:pPr>
            <a:r>
              <a:rPr b="0" lang="en" sz="1300">
                <a:solidFill>
                  <a:srgbClr val="6F7E75"/>
                </a:solidFill>
                <a:latin typeface="Arial"/>
                <a:ea typeface="Arial"/>
                <a:cs typeface="Arial"/>
                <a:sym typeface="Arial"/>
              </a:rPr>
              <a:t>English translation of the supplied UI.</a:t>
            </a:r>
            <a:endParaRPr sz="1100"/>
          </a:p>
        </p:txBody>
      </p:sp>
      <p:pic>
        <p:nvPicPr>
          <p:cNvPr id="250" name="Google Shape;250;p33"/>
          <p:cNvPicPr preferRelativeResize="0"/>
          <p:nvPr/>
        </p:nvPicPr>
        <p:blipFill rotWithShape="1">
          <a:blip r:embed="rId3">
            <a:alphaModFix/>
          </a:blip>
          <a:srcRect b="0" l="0" r="0" t="0"/>
          <a:stretch/>
        </p:blipFill>
        <p:spPr>
          <a:xfrm>
            <a:off x="4713683" y="1457325"/>
            <a:ext cx="3645696" cy="3500438"/>
          </a:xfrm>
          <a:prstGeom prst="rect">
            <a:avLst/>
          </a:prstGeom>
          <a:noFill/>
          <a:ln>
            <a:noFill/>
          </a:ln>
        </p:spPr>
      </p:pic>
      <p:pic>
        <p:nvPicPr>
          <p:cNvPr id="251" name="Google Shape;251;p33"/>
          <p:cNvPicPr preferRelativeResize="0"/>
          <p:nvPr/>
        </p:nvPicPr>
        <p:blipFill>
          <a:blip r:embed="rId4">
            <a:alphaModFix/>
          </a:blip>
          <a:stretch>
            <a:fillRect/>
          </a:stretch>
        </p:blipFill>
        <p:spPr>
          <a:xfrm>
            <a:off x="318925" y="-53187"/>
            <a:ext cx="893402" cy="6700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256" name="Shape 256"/>
        <p:cNvGrpSpPr/>
        <p:nvPr/>
      </p:nvGrpSpPr>
      <p:grpSpPr>
        <a:xfrm>
          <a:off x="0" y="0"/>
          <a:ext cx="0" cy="0"/>
          <a:chOff x="0" y="0"/>
          <a:chExt cx="0" cy="0"/>
        </a:xfrm>
      </p:grpSpPr>
      <p:sp>
        <p:nvSpPr>
          <p:cNvPr id="257" name="Google Shape;257;p34"/>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15</a:t>
            </a:r>
            <a:endParaRPr sz="1100"/>
          </a:p>
        </p:txBody>
      </p:sp>
      <p:sp>
        <p:nvSpPr>
          <p:cNvPr id="258" name="Google Shape;258;p34"/>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Search: the conversation interface</a:t>
            </a:r>
            <a:endParaRPr sz="1100"/>
          </a:p>
        </p:txBody>
      </p:sp>
      <p:sp>
        <p:nvSpPr>
          <p:cNvPr id="259" name="Google Shape;259;p34"/>
          <p:cNvSpPr/>
          <p:nvPr/>
        </p:nvSpPr>
        <p:spPr>
          <a:xfrm>
            <a:off x="500063" y="1943100"/>
            <a:ext cx="3429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200">
                <a:solidFill>
                  <a:srgbClr val="B86A42"/>
                </a:solidFill>
                <a:latin typeface="Arial"/>
                <a:ea typeface="Arial"/>
                <a:cs typeface="Arial"/>
                <a:sym typeface="Arial"/>
              </a:rPr>
              <a:t>Chat with Agent</a:t>
            </a:r>
            <a:endParaRPr sz="1100"/>
          </a:p>
        </p:txBody>
      </p:sp>
      <p:sp>
        <p:nvSpPr>
          <p:cNvPr id="260" name="Google Shape;260;p34"/>
          <p:cNvSpPr/>
          <p:nvPr/>
        </p:nvSpPr>
        <p:spPr>
          <a:xfrm>
            <a:off x="514350" y="2714625"/>
            <a:ext cx="3429000" cy="10715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273C34"/>
                </a:solidFill>
                <a:latin typeface="Arial"/>
                <a:ea typeface="Arial"/>
                <a:cs typeface="Arial"/>
                <a:sym typeface="Arial"/>
              </a:rPr>
              <a:t>The same agent, Xiaohei.</a:t>
            </a:r>
            <a:endParaRPr sz="1100"/>
          </a:p>
          <a:p>
            <a:pPr indent="0" lvl="0" marL="0" marR="0" rtl="0" algn="l">
              <a:spcBef>
                <a:spcPts val="0"/>
              </a:spcBef>
              <a:spcAft>
                <a:spcPts val="0"/>
              </a:spcAft>
              <a:buNone/>
            </a:pPr>
            <a:r>
              <a:rPr b="0" lang="en" sz="1600">
                <a:solidFill>
                  <a:srgbClr val="273C34"/>
                </a:solidFill>
                <a:latin typeface="Arial"/>
                <a:ea typeface="Arial"/>
                <a:cs typeface="Arial"/>
                <a:sym typeface="Arial"/>
              </a:rPr>
              <a:t>The page says replies use</a:t>
            </a:r>
            <a:endParaRPr sz="1100"/>
          </a:p>
          <a:p>
            <a:pPr indent="0" lvl="0" marL="0" marR="0" rtl="0" algn="l">
              <a:spcBef>
                <a:spcPts val="0"/>
              </a:spcBef>
              <a:spcAft>
                <a:spcPts val="0"/>
              </a:spcAft>
              <a:buNone/>
            </a:pPr>
            <a:r>
              <a:rPr b="0" lang="en" sz="1600">
                <a:solidFill>
                  <a:srgbClr val="273C34"/>
                </a:solidFill>
                <a:latin typeface="Arial"/>
                <a:ea typeface="Arial"/>
                <a:cs typeface="Arial"/>
                <a:sym typeface="Arial"/>
              </a:rPr>
              <a:t>its current internal configuration.</a:t>
            </a:r>
            <a:endParaRPr sz="1100"/>
          </a:p>
        </p:txBody>
      </p:sp>
      <p:sp>
        <p:nvSpPr>
          <p:cNvPr id="261" name="Google Shape;261;p34"/>
          <p:cNvSpPr/>
          <p:nvPr/>
        </p:nvSpPr>
        <p:spPr>
          <a:xfrm>
            <a:off x="514350" y="4043363"/>
            <a:ext cx="3429000" cy="7500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300">
                <a:solidFill>
                  <a:srgbClr val="6F7E75"/>
                </a:solidFill>
                <a:latin typeface="Arial"/>
                <a:ea typeface="Arial"/>
                <a:cs typeface="Arial"/>
                <a:sym typeface="Arial"/>
              </a:rPr>
              <a:t>The captured model is disconnected.</a:t>
            </a:r>
            <a:endParaRPr sz="1100"/>
          </a:p>
          <a:p>
            <a:pPr indent="0" lvl="0" marL="0" marR="0" rtl="0" algn="l">
              <a:spcBef>
                <a:spcPts val="0"/>
              </a:spcBef>
              <a:spcAft>
                <a:spcPts val="0"/>
              </a:spcAft>
              <a:buNone/>
            </a:pPr>
            <a:r>
              <a:rPr b="0" lang="en" sz="1300">
                <a:solidFill>
                  <a:srgbClr val="6F7E75"/>
                </a:solidFill>
                <a:latin typeface="Arial"/>
                <a:ea typeface="Arial"/>
                <a:cs typeface="Arial"/>
                <a:sym typeface="Arial"/>
              </a:rPr>
              <a:t>Next: validate editing and conversation.</a:t>
            </a:r>
            <a:endParaRPr sz="1100"/>
          </a:p>
          <a:p>
            <a:pPr indent="0" lvl="0" marL="0" marR="0" rtl="0" algn="l">
              <a:spcBef>
                <a:spcPts val="0"/>
              </a:spcBef>
              <a:spcAft>
                <a:spcPts val="0"/>
              </a:spcAft>
              <a:buNone/>
            </a:pPr>
            <a:r>
              <a:rPr b="0" lang="en" sz="1300">
                <a:solidFill>
                  <a:srgbClr val="6F7E75"/>
                </a:solidFill>
                <a:latin typeface="Arial"/>
                <a:ea typeface="Arial"/>
                <a:cs typeface="Arial"/>
                <a:sym typeface="Arial"/>
              </a:rPr>
              <a:t>English translation of the supplied UI.</a:t>
            </a:r>
            <a:endParaRPr sz="1100"/>
          </a:p>
        </p:txBody>
      </p:sp>
      <p:pic>
        <p:nvPicPr>
          <p:cNvPr id="262" name="Google Shape;262;p34"/>
          <p:cNvPicPr preferRelativeResize="0"/>
          <p:nvPr/>
        </p:nvPicPr>
        <p:blipFill rotWithShape="1">
          <a:blip r:embed="rId3">
            <a:alphaModFix/>
          </a:blip>
          <a:srcRect b="0" l="0" r="0" t="0"/>
          <a:stretch/>
        </p:blipFill>
        <p:spPr>
          <a:xfrm>
            <a:off x="4535641" y="1457325"/>
            <a:ext cx="4001779" cy="3500437"/>
          </a:xfrm>
          <a:prstGeom prst="rect">
            <a:avLst/>
          </a:prstGeom>
          <a:noFill/>
          <a:ln>
            <a:noFill/>
          </a:ln>
        </p:spPr>
      </p:pic>
      <p:pic>
        <p:nvPicPr>
          <p:cNvPr id="263" name="Google Shape;263;p34"/>
          <p:cNvPicPr preferRelativeResize="0"/>
          <p:nvPr/>
        </p:nvPicPr>
        <p:blipFill>
          <a:blip r:embed="rId4">
            <a:alphaModFix/>
          </a:blip>
          <a:stretch>
            <a:fillRect/>
          </a:stretch>
        </p:blipFill>
        <p:spPr>
          <a:xfrm>
            <a:off x="318925" y="-53187"/>
            <a:ext cx="893402" cy="6700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268" name="Shape 268"/>
        <p:cNvGrpSpPr/>
        <p:nvPr/>
      </p:nvGrpSpPr>
      <p:grpSpPr>
        <a:xfrm>
          <a:off x="0" y="0"/>
          <a:ext cx="0" cy="0"/>
          <a:chOff x="0" y="0"/>
          <a:chExt cx="0" cy="0"/>
        </a:xfrm>
      </p:grpSpPr>
      <p:sp>
        <p:nvSpPr>
          <p:cNvPr id="269" name="Google Shape;269;p35"/>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6F7E75"/>
                </a:solidFill>
                <a:latin typeface="Arial"/>
                <a:ea typeface="Arial"/>
                <a:cs typeface="Arial"/>
                <a:sym typeface="Arial"/>
              </a:rPr>
              <a:t>16</a:t>
            </a:r>
            <a:endParaRPr sz="1100"/>
          </a:p>
        </p:txBody>
      </p:sp>
      <p:sp>
        <p:nvSpPr>
          <p:cNvPr id="270" name="Google Shape;270;p35"/>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273C34"/>
                </a:solidFill>
                <a:latin typeface="Arial"/>
                <a:ea typeface="Arial"/>
                <a:cs typeface="Arial"/>
                <a:sym typeface="Arial"/>
              </a:rPr>
              <a:t>Development stages and evidence</a:t>
            </a:r>
            <a:endParaRPr sz="1100"/>
          </a:p>
        </p:txBody>
      </p:sp>
      <p:sp>
        <p:nvSpPr>
          <p:cNvPr id="271" name="Google Shape;271;p35"/>
          <p:cNvSpPr/>
          <p:nvPr/>
        </p:nvSpPr>
        <p:spPr>
          <a:xfrm>
            <a:off x="485775" y="1521619"/>
            <a:ext cx="80010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400">
                <a:solidFill>
                  <a:srgbClr val="6F7E75"/>
                </a:solidFill>
                <a:latin typeface="Arial"/>
                <a:ea typeface="Arial"/>
                <a:cs typeface="Arial"/>
                <a:sym typeface="Arial"/>
              </a:rPr>
              <a:t>Timing depends on experimental results and team resources</a:t>
            </a:r>
            <a:endParaRPr sz="1100"/>
          </a:p>
        </p:txBody>
      </p:sp>
      <p:sp>
        <p:nvSpPr>
          <p:cNvPr id="272" name="Google Shape;272;p35"/>
          <p:cNvSpPr/>
          <p:nvPr/>
        </p:nvSpPr>
        <p:spPr>
          <a:xfrm>
            <a:off x="514350" y="2200275"/>
            <a:ext cx="1700213" cy="3857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B86A42"/>
                </a:solidFill>
                <a:latin typeface="Arial"/>
                <a:ea typeface="Arial"/>
                <a:cs typeface="Arial"/>
                <a:sym typeface="Arial"/>
              </a:rPr>
              <a:t>Stage 1</a:t>
            </a:r>
            <a:endParaRPr sz="1100"/>
          </a:p>
        </p:txBody>
      </p:sp>
      <p:sp>
        <p:nvSpPr>
          <p:cNvPr id="273" name="Google Shape;273;p35"/>
          <p:cNvSpPr/>
          <p:nvPr/>
        </p:nvSpPr>
        <p:spPr>
          <a:xfrm>
            <a:off x="2507456" y="2200275"/>
            <a:ext cx="3964781" cy="7000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500">
                <a:solidFill>
                  <a:srgbClr val="273C34"/>
                </a:solidFill>
                <a:latin typeface="Arial"/>
                <a:ea typeface="Arial"/>
                <a:cs typeface="Arial"/>
                <a:sym typeface="Arial"/>
              </a:rPr>
              <a:t>Navigator comparisons</a:t>
            </a:r>
            <a:endParaRPr sz="1100"/>
          </a:p>
          <a:p>
            <a:pPr indent="0" lvl="0" marL="0" marR="0" rtl="0" algn="l">
              <a:spcBef>
                <a:spcPts val="0"/>
              </a:spcBef>
              <a:spcAft>
                <a:spcPts val="0"/>
              </a:spcAft>
              <a:buNone/>
            </a:pPr>
            <a:r>
              <a:rPr b="0" lang="en" sz="1500">
                <a:solidFill>
                  <a:srgbClr val="273C34"/>
                </a:solidFill>
                <a:latin typeface="Arial"/>
                <a:ea typeface="Arial"/>
                <a:cs typeface="Arial"/>
                <a:sym typeface="Arial"/>
              </a:rPr>
              <a:t>Search model workflow</a:t>
            </a:r>
            <a:endParaRPr sz="1100"/>
          </a:p>
        </p:txBody>
      </p:sp>
      <p:sp>
        <p:nvSpPr>
          <p:cNvPr id="274" name="Google Shape;274;p35"/>
          <p:cNvSpPr/>
          <p:nvPr/>
        </p:nvSpPr>
        <p:spPr>
          <a:xfrm>
            <a:off x="6622256" y="2307431"/>
            <a:ext cx="2071688" cy="6072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500">
                <a:solidFill>
                  <a:srgbClr val="6F7E75"/>
                </a:solidFill>
                <a:latin typeface="Arial"/>
                <a:ea typeface="Arial"/>
                <a:cs typeface="Arial"/>
                <a:sym typeface="Arial"/>
              </a:rPr>
              <a:t>Does control help?</a:t>
            </a:r>
            <a:endParaRPr sz="1100"/>
          </a:p>
        </p:txBody>
      </p:sp>
      <p:sp>
        <p:nvSpPr>
          <p:cNvPr id="275" name="Google Shape;275;p35"/>
          <p:cNvSpPr/>
          <p:nvPr/>
        </p:nvSpPr>
        <p:spPr>
          <a:xfrm>
            <a:off x="514350" y="2993231"/>
            <a:ext cx="1700213" cy="3857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B86A42"/>
                </a:solidFill>
                <a:latin typeface="Arial"/>
                <a:ea typeface="Arial"/>
                <a:cs typeface="Arial"/>
                <a:sym typeface="Arial"/>
              </a:rPr>
              <a:t>Stage 2</a:t>
            </a:r>
            <a:endParaRPr sz="1100"/>
          </a:p>
        </p:txBody>
      </p:sp>
      <p:sp>
        <p:nvSpPr>
          <p:cNvPr id="276" name="Google Shape;276;p35"/>
          <p:cNvSpPr/>
          <p:nvPr/>
        </p:nvSpPr>
        <p:spPr>
          <a:xfrm>
            <a:off x="2507456" y="2993231"/>
            <a:ext cx="3964781" cy="7000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500">
                <a:solidFill>
                  <a:srgbClr val="273C34"/>
                </a:solidFill>
                <a:latin typeface="Arial"/>
                <a:ea typeface="Arial"/>
                <a:cs typeface="Arial"/>
                <a:sym typeface="Arial"/>
              </a:rPr>
              <a:t>Identity across sessions</a:t>
            </a:r>
            <a:endParaRPr sz="1100"/>
          </a:p>
          <a:p>
            <a:pPr indent="0" lvl="0" marL="0" marR="0" rtl="0" algn="l">
              <a:spcBef>
                <a:spcPts val="0"/>
              </a:spcBef>
              <a:spcAft>
                <a:spcPts val="0"/>
              </a:spcAft>
              <a:buNone/>
            </a:pPr>
            <a:r>
              <a:rPr b="0" lang="en" sz="1500">
                <a:solidFill>
                  <a:srgbClr val="273C34"/>
                </a:solidFill>
                <a:latin typeface="Arial"/>
                <a:ea typeface="Arial"/>
                <a:cs typeface="Arial"/>
                <a:sym typeface="Arial"/>
              </a:rPr>
              <a:t>Version comparison and rollback</a:t>
            </a:r>
            <a:endParaRPr sz="1100"/>
          </a:p>
        </p:txBody>
      </p:sp>
      <p:sp>
        <p:nvSpPr>
          <p:cNvPr id="277" name="Google Shape;277;p35"/>
          <p:cNvSpPr/>
          <p:nvPr/>
        </p:nvSpPr>
        <p:spPr>
          <a:xfrm>
            <a:off x="6622256" y="3100388"/>
            <a:ext cx="2071688" cy="6072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500">
                <a:solidFill>
                  <a:srgbClr val="6F7E75"/>
                </a:solidFill>
                <a:latin typeface="Arial"/>
                <a:ea typeface="Arial"/>
                <a:cs typeface="Arial"/>
                <a:sym typeface="Arial"/>
              </a:rPr>
              <a:t>Does identity persist?</a:t>
            </a:r>
            <a:endParaRPr sz="1100"/>
          </a:p>
        </p:txBody>
      </p:sp>
      <p:sp>
        <p:nvSpPr>
          <p:cNvPr id="278" name="Google Shape;278;p35"/>
          <p:cNvSpPr/>
          <p:nvPr/>
        </p:nvSpPr>
        <p:spPr>
          <a:xfrm>
            <a:off x="514350" y="3786188"/>
            <a:ext cx="1700213" cy="3857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600">
                <a:solidFill>
                  <a:srgbClr val="B86A42"/>
                </a:solidFill>
                <a:latin typeface="Arial"/>
                <a:ea typeface="Arial"/>
                <a:cs typeface="Arial"/>
                <a:sym typeface="Arial"/>
              </a:rPr>
              <a:t>Stage 3</a:t>
            </a:r>
            <a:endParaRPr sz="1100"/>
          </a:p>
        </p:txBody>
      </p:sp>
      <p:sp>
        <p:nvSpPr>
          <p:cNvPr id="279" name="Google Shape;279;p35"/>
          <p:cNvSpPr/>
          <p:nvPr/>
        </p:nvSpPr>
        <p:spPr>
          <a:xfrm>
            <a:off x="2507456" y="3786188"/>
            <a:ext cx="3964781" cy="7000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500">
                <a:solidFill>
                  <a:srgbClr val="273C34"/>
                </a:solidFill>
                <a:latin typeface="Arial"/>
                <a:ea typeface="Arial"/>
                <a:cs typeface="Arial"/>
                <a:sym typeface="Arial"/>
              </a:rPr>
              <a:t>Long-term memory and new directions</a:t>
            </a:r>
            <a:endParaRPr sz="1100"/>
          </a:p>
          <a:p>
            <a:pPr indent="0" lvl="0" marL="0" marR="0" rtl="0" algn="l">
              <a:spcBef>
                <a:spcPts val="0"/>
              </a:spcBef>
              <a:spcAft>
                <a:spcPts val="0"/>
              </a:spcAft>
              <a:buNone/>
            </a:pPr>
            <a:r>
              <a:rPr b="0" lang="en" sz="1500">
                <a:solidFill>
                  <a:srgbClr val="273C34"/>
                </a:solidFill>
                <a:latin typeface="Arial"/>
                <a:ea typeface="Arial"/>
                <a:cs typeface="Arial"/>
                <a:sym typeface="Arial"/>
              </a:rPr>
              <a:t>Individual Geometry expansion</a:t>
            </a:r>
            <a:endParaRPr sz="1100"/>
          </a:p>
        </p:txBody>
      </p:sp>
      <p:sp>
        <p:nvSpPr>
          <p:cNvPr id="280" name="Google Shape;280;p35"/>
          <p:cNvSpPr/>
          <p:nvPr/>
        </p:nvSpPr>
        <p:spPr>
          <a:xfrm>
            <a:off x="6622256" y="3893344"/>
            <a:ext cx="2071688" cy="6072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500">
                <a:solidFill>
                  <a:srgbClr val="6F7E75"/>
                </a:solidFill>
                <a:latin typeface="Arial"/>
                <a:ea typeface="Arial"/>
                <a:cs typeface="Arial"/>
                <a:sym typeface="Arial"/>
              </a:rPr>
              <a:t>Is growth reliable?</a:t>
            </a:r>
            <a:endParaRPr sz="1100"/>
          </a:p>
        </p:txBody>
      </p:sp>
      <p:pic>
        <p:nvPicPr>
          <p:cNvPr id="281" name="Google Shape;281;p35"/>
          <p:cNvPicPr preferRelativeResize="0"/>
          <p:nvPr/>
        </p:nvPicPr>
        <p:blipFill>
          <a:blip r:embed="rId3">
            <a:alphaModFix/>
          </a:blip>
          <a:stretch>
            <a:fillRect/>
          </a:stretch>
        </p:blipFill>
        <p:spPr>
          <a:xfrm>
            <a:off x="318925" y="-53187"/>
            <a:ext cx="893402" cy="670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3A30"/>
        </a:solidFill>
      </p:bgPr>
    </p:bg>
    <p:spTree>
      <p:nvGrpSpPr>
        <p:cNvPr id="286" name="Shape 286"/>
        <p:cNvGrpSpPr/>
        <p:nvPr/>
      </p:nvGrpSpPr>
      <p:grpSpPr>
        <a:xfrm>
          <a:off x="0" y="0"/>
          <a:ext cx="0" cy="0"/>
          <a:chOff x="0" y="0"/>
          <a:chExt cx="0" cy="0"/>
        </a:xfrm>
      </p:grpSpPr>
      <p:sp>
        <p:nvSpPr>
          <p:cNvPr id="287" name="Google Shape;287;p36"/>
          <p:cNvSpPr/>
          <p:nvPr/>
        </p:nvSpPr>
        <p:spPr>
          <a:xfrm>
            <a:off x="8215313" y="235744"/>
            <a:ext cx="428625" cy="21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D7E1D8"/>
                </a:solidFill>
                <a:latin typeface="Arial"/>
                <a:ea typeface="Arial"/>
                <a:cs typeface="Arial"/>
                <a:sym typeface="Arial"/>
              </a:rPr>
              <a:t>17</a:t>
            </a:r>
            <a:endParaRPr sz="1100"/>
          </a:p>
        </p:txBody>
      </p:sp>
      <p:sp>
        <p:nvSpPr>
          <p:cNvPr id="288" name="Google Shape;288;p36"/>
          <p:cNvSpPr/>
          <p:nvPr/>
        </p:nvSpPr>
        <p:spPr>
          <a:xfrm>
            <a:off x="471488" y="750094"/>
            <a:ext cx="81438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2500">
                <a:solidFill>
                  <a:srgbClr val="F7F6F0"/>
                </a:solidFill>
                <a:latin typeface="Arial"/>
                <a:ea typeface="Arial"/>
                <a:cs typeface="Arial"/>
                <a:sym typeface="Arial"/>
              </a:rPr>
              <a:t>The future we want to build</a:t>
            </a:r>
            <a:endParaRPr sz="1100"/>
          </a:p>
        </p:txBody>
      </p:sp>
      <p:sp>
        <p:nvSpPr>
          <p:cNvPr id="289" name="Google Shape;289;p36"/>
          <p:cNvSpPr/>
          <p:nvPr/>
        </p:nvSpPr>
        <p:spPr>
          <a:xfrm>
            <a:off x="514350" y="1750219"/>
            <a:ext cx="8001000" cy="17573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3400">
                <a:solidFill>
                  <a:srgbClr val="F7F6F0"/>
                </a:solidFill>
                <a:latin typeface="Arial"/>
                <a:ea typeface="Arial"/>
                <a:cs typeface="Arial"/>
                <a:sym typeface="Arial"/>
              </a:rPr>
              <a:t>An inner world for intelligence</a:t>
            </a:r>
            <a:endParaRPr sz="1100"/>
          </a:p>
          <a:p>
            <a:pPr indent="0" lvl="0" marL="0" marR="0" rtl="0" algn="l">
              <a:spcBef>
                <a:spcPts val="0"/>
              </a:spcBef>
              <a:spcAft>
                <a:spcPts val="0"/>
              </a:spcAft>
              <a:buNone/>
            </a:pPr>
            <a:r>
              <a:rPr b="0" lang="en" sz="3400">
                <a:solidFill>
                  <a:srgbClr val="F7F6F0"/>
                </a:solidFill>
                <a:latin typeface="Arial"/>
                <a:ea typeface="Arial"/>
                <a:cs typeface="Arial"/>
                <a:sym typeface="Arial"/>
              </a:rPr>
              <a:t>that people can understand</a:t>
            </a:r>
            <a:endParaRPr sz="1100"/>
          </a:p>
          <a:p>
            <a:pPr indent="0" lvl="0" marL="0" marR="0" rtl="0" algn="l">
              <a:spcBef>
                <a:spcPts val="0"/>
              </a:spcBef>
              <a:spcAft>
                <a:spcPts val="0"/>
              </a:spcAft>
              <a:buNone/>
            </a:pPr>
            <a:r>
              <a:rPr b="0" lang="en" sz="3400">
                <a:solidFill>
                  <a:srgbClr val="F7F6F0"/>
                </a:solidFill>
                <a:latin typeface="Arial"/>
                <a:ea typeface="Arial"/>
                <a:cs typeface="Arial"/>
                <a:sym typeface="Arial"/>
              </a:rPr>
              <a:t>and shape</a:t>
            </a:r>
            <a:endParaRPr sz="1100"/>
          </a:p>
        </p:txBody>
      </p:sp>
      <p:sp>
        <p:nvSpPr>
          <p:cNvPr id="290" name="Google Shape;290;p36"/>
          <p:cNvSpPr/>
          <p:nvPr/>
        </p:nvSpPr>
        <p:spPr>
          <a:xfrm>
            <a:off x="542925" y="3950494"/>
            <a:ext cx="7786688" cy="78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D7E1D8"/>
                </a:solidFill>
                <a:latin typeface="Arial"/>
                <a:ea typeface="Arial"/>
                <a:cs typeface="Arial"/>
                <a:sym typeface="Arial"/>
              </a:rPr>
              <a:t>Navigator validates the value of internal control.</a:t>
            </a:r>
            <a:endParaRPr sz="1100"/>
          </a:p>
          <a:p>
            <a:pPr indent="0" lvl="0" marL="0" marR="0" rtl="0" algn="l">
              <a:spcBef>
                <a:spcPts val="0"/>
              </a:spcBef>
              <a:spcAft>
                <a:spcPts val="0"/>
              </a:spcAft>
              <a:buNone/>
            </a:pPr>
            <a:r>
              <a:rPr b="0" lang="en" sz="1700">
                <a:solidFill>
                  <a:srgbClr val="D7E1D8"/>
                </a:solidFill>
                <a:latin typeface="Arial"/>
                <a:ea typeface="Arial"/>
                <a:cs typeface="Arial"/>
                <a:sym typeface="Arial"/>
              </a:rPr>
              <a:t>Search explores the creation of digital life.</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